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1-accent-rule">
            <a:extLst>
              <a:ext uri="{FF2B5EF4-FFF2-40B4-BE49-F238E27FC236}">
                <a16:creationId xmlns:a16="http://schemas.microsoft.com/office/drawing/2014/main" id="{4FC9B612-8E33-41A0-9325-969A78AA5D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1-eyebrow">
            <a:extLst>
              <a:ext uri="{FF2B5EF4-FFF2-40B4-BE49-F238E27FC236}">
                <a16:creationId xmlns:a16="http://schemas.microsoft.com/office/drawing/2014/main" id="{A547E9AC-0B7A-44D1-B70A-28503E4385FD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7239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2026 春季开源操作系统训练营 · 项目一 StarryOS</a:t>
            </a:r>
          </a:p>
        </p:txBody>
      </p:sp>
      <p:sp>
        <p:nvSpPr>
          <p:cNvPr id="3" name="s1-author">
            <a:extLst>
              <a:ext uri="{FF2B5EF4-FFF2-40B4-BE49-F238E27FC236}">
                <a16:creationId xmlns:a16="http://schemas.microsoft.com/office/drawing/2014/main" id="{E6DCCA09-7064-4D31-9D50-02DFEA67686A}"/>
              </a:ext>
            </a:extLst>
          </p:cNvPr>
          <p:cNvSpPr>
            <a:spLocks noGrp="1"/>
          </p:cNvSpPr>
          <p:nvPr/>
        </p:nvSpPr>
        <p:spPr>
          <a:xfrm>
            <a:off x="9410700" y="257175"/>
            <a:ext cx="238125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12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LetsWalkInLine</a:t>
            </a:r>
          </a:p>
        </p:txBody>
      </p:sp>
      <p:sp>
        <p:nvSpPr>
          <p:cNvPr id="4" name="s1-title">
            <a:extLst>
              <a:ext uri="{FF2B5EF4-FFF2-40B4-BE49-F238E27FC236}">
                <a16:creationId xmlns:a16="http://schemas.microsoft.com/office/drawing/2014/main" id="{DE6AB879-58DF-4029-A0BB-E4BDD333822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809625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从源码学习到社区开发</a:t>
            </a:r>
          </a:p>
        </p:txBody>
      </p:sp>
      <p:sp>
        <p:nvSpPr>
          <p:cNvPr id="5" name="s1-subtitle">
            <a:extLst>
              <a:ext uri="{FF2B5EF4-FFF2-40B4-BE49-F238E27FC236}">
                <a16:creationId xmlns:a16="http://schemas.microsoft.com/office/drawing/2014/main" id="{8551FE50-2D40-49C3-85D8-0FC3CAE5C27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668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主线：用用户态行为发现并收敛</a:t>
            </a:r>
            <a:r>
              <a:rPr sz="1425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StarryOS</a:t>
            </a:r>
            <a:r>
              <a:rPr sz="1425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 与 Linux ABI </a:t>
            </a:r>
            <a:r>
              <a:rPr sz="1425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的差异</a:t>
            </a:r>
            <a:r>
              <a:rPr sz="1425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s1-route-line">
            <a:extLst>
              <a:ext uri="{FF2B5EF4-FFF2-40B4-BE49-F238E27FC236}">
                <a16:creationId xmlns:a16="http://schemas.microsoft.com/office/drawing/2014/main" id="{975EE6AD-5575-4A79-A2F6-80F64DA7EA4E}"/>
              </a:ext>
            </a:extLst>
          </p:cNvPr>
          <p:cNvSpPr>
            <a:spLocks noGrp="1"/>
          </p:cNvSpPr>
          <p:nvPr/>
        </p:nvSpPr>
        <p:spPr>
          <a:xfrm>
            <a:off x="1657350" y="2781300"/>
            <a:ext cx="8858250" cy="3810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7" name="s1-node-1">
            <a:extLst>
              <a:ext uri="{FF2B5EF4-FFF2-40B4-BE49-F238E27FC236}">
                <a16:creationId xmlns:a16="http://schemas.microsoft.com/office/drawing/2014/main" id="{03A1783B-6349-4CFB-AF80-1BA5E1195349}"/>
              </a:ext>
            </a:extLst>
          </p:cNvPr>
          <p:cNvSpPr>
            <a:spLocks noGrp="1"/>
          </p:cNvSpPr>
          <p:nvPr/>
        </p:nvSpPr>
        <p:spPr>
          <a:xfrm>
            <a:off x="1419225" y="256222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s1-node-number-1">
            <a:extLst>
              <a:ext uri="{FF2B5EF4-FFF2-40B4-BE49-F238E27FC236}">
                <a16:creationId xmlns:a16="http://schemas.microsoft.com/office/drawing/2014/main" id="{1440D791-AFBB-4884-98A1-4D7C0C32F143}"/>
              </a:ext>
            </a:extLst>
          </p:cNvPr>
          <p:cNvSpPr>
            <a:spLocks noGrp="1"/>
          </p:cNvSpPr>
          <p:nvPr/>
        </p:nvSpPr>
        <p:spPr>
          <a:xfrm>
            <a:off x="1419225" y="2619375"/>
            <a:ext cx="476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s1-stage-1">
            <a:extLst>
              <a:ext uri="{FF2B5EF4-FFF2-40B4-BE49-F238E27FC236}">
                <a16:creationId xmlns:a16="http://schemas.microsoft.com/office/drawing/2014/main" id="{E8E98ABB-A908-466C-8D62-CA870A3D553B}"/>
              </a:ext>
            </a:extLst>
          </p:cNvPr>
          <p:cNvSpPr>
            <a:spLocks noGrp="1"/>
          </p:cNvSpPr>
          <p:nvPr/>
        </p:nvSpPr>
        <p:spPr>
          <a:xfrm>
            <a:off x="466725" y="1695450"/>
            <a:ext cx="2381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先导学习</a:t>
            </a:r>
          </a:p>
        </p:txBody>
      </p:sp>
      <p:sp>
        <p:nvSpPr>
          <p:cNvPr id="10" name="s1-topic-1">
            <a:extLst>
              <a:ext uri="{FF2B5EF4-FFF2-40B4-BE49-F238E27FC236}">
                <a16:creationId xmlns:a16="http://schemas.microsoft.com/office/drawing/2014/main" id="{4EA6F6A6-682B-4D9A-A62A-2303D18BC645}"/>
              </a:ext>
            </a:extLst>
          </p:cNvPr>
          <p:cNvSpPr>
            <a:spLocks noGrp="1"/>
          </p:cNvSpPr>
          <p:nvPr/>
        </p:nvSpPr>
        <p:spPr>
          <a:xfrm>
            <a:off x="466725" y="2066925"/>
            <a:ext cx="2381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rCore / ArceOS</a:t>
            </a:r>
          </a:p>
        </p:txBody>
      </p:sp>
      <p:sp>
        <p:nvSpPr>
          <p:cNvPr id="11" name="s1-desc-1">
            <a:extLst>
              <a:ext uri="{FF2B5EF4-FFF2-40B4-BE49-F238E27FC236}">
                <a16:creationId xmlns:a16="http://schemas.microsoft.com/office/drawing/2014/main" id="{F52093EE-3214-4443-9B6F-E48A4BE0A3F0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2400300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理解进程、内存、文件系统与上下文切换</a:t>
            </a:r>
          </a:p>
        </p:txBody>
      </p:sp>
      <p:sp>
        <p:nvSpPr>
          <p:cNvPr id="12" name="s1-node-2">
            <a:extLst>
              <a:ext uri="{FF2B5EF4-FFF2-40B4-BE49-F238E27FC236}">
                <a16:creationId xmlns:a16="http://schemas.microsoft.com/office/drawing/2014/main" id="{0794EAB3-E77B-47F9-9613-55B8ACFF20A1}"/>
              </a:ext>
            </a:extLst>
          </p:cNvPr>
          <p:cNvSpPr>
            <a:spLocks noGrp="1"/>
          </p:cNvSpPr>
          <p:nvPr/>
        </p:nvSpPr>
        <p:spPr>
          <a:xfrm>
            <a:off x="4371975" y="2562225"/>
            <a:ext cx="476250" cy="47625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s1-node-number-2">
            <a:extLst>
              <a:ext uri="{FF2B5EF4-FFF2-40B4-BE49-F238E27FC236}">
                <a16:creationId xmlns:a16="http://schemas.microsoft.com/office/drawing/2014/main" id="{6FE22590-8B77-41C8-A919-F7D8E8E26CEB}"/>
              </a:ext>
            </a:extLst>
          </p:cNvPr>
          <p:cNvSpPr>
            <a:spLocks noGrp="1"/>
          </p:cNvSpPr>
          <p:nvPr/>
        </p:nvSpPr>
        <p:spPr>
          <a:xfrm>
            <a:off x="4371975" y="2619375"/>
            <a:ext cx="476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1-stage-2">
            <a:extLst>
              <a:ext uri="{FF2B5EF4-FFF2-40B4-BE49-F238E27FC236}">
                <a16:creationId xmlns:a16="http://schemas.microsoft.com/office/drawing/2014/main" id="{109B60A8-1864-4F8E-83E0-23EB3629E763}"/>
              </a:ext>
            </a:extLst>
          </p:cNvPr>
          <p:cNvSpPr>
            <a:spLocks noGrp="1"/>
          </p:cNvSpPr>
          <p:nvPr/>
        </p:nvSpPr>
        <p:spPr>
          <a:xfrm>
            <a:off x="3419475" y="1695450"/>
            <a:ext cx="2381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 ABI</a:t>
            </a:r>
          </a:p>
        </p:txBody>
      </p:sp>
      <p:sp>
        <p:nvSpPr>
          <p:cNvPr id="15" name="s1-topic-2">
            <a:extLst>
              <a:ext uri="{FF2B5EF4-FFF2-40B4-BE49-F238E27FC236}">
                <a16:creationId xmlns:a16="http://schemas.microsoft.com/office/drawing/2014/main" id="{8B388D04-FC4A-4094-873A-FF8017E72C45}"/>
              </a:ext>
            </a:extLst>
          </p:cNvPr>
          <p:cNvSpPr>
            <a:spLocks noGrp="1"/>
          </p:cNvSpPr>
          <p:nvPr/>
        </p:nvSpPr>
        <p:spPr>
          <a:xfrm>
            <a:off x="3419475" y="2066925"/>
            <a:ext cx="2381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signal · futex</a:t>
            </a:r>
          </a:p>
        </p:txBody>
      </p:sp>
      <p:sp>
        <p:nvSpPr>
          <p:cNvPr id="16" name="s1-desc-2">
            <a:extLst>
              <a:ext uri="{FF2B5EF4-FFF2-40B4-BE49-F238E27FC236}">
                <a16:creationId xmlns:a16="http://schemas.microsoft.com/office/drawing/2014/main" id="{D234883F-522A-4132-8DCC-E2316DDBCFA7}"/>
              </a:ext>
            </a:extLst>
          </p:cNvPr>
          <p:cNvSpPr>
            <a:spLocks noGrp="1"/>
          </p:cNvSpPr>
          <p:nvPr/>
        </p:nvSpPr>
        <p:spPr>
          <a:xfrm>
            <a:off x="3409950" y="3276600"/>
            <a:ext cx="2400300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从 syscall 测例修复可观察语义</a:t>
            </a:r>
          </a:p>
        </p:txBody>
      </p:sp>
      <p:sp>
        <p:nvSpPr>
          <p:cNvPr id="17" name="s1-node-3">
            <a:extLst>
              <a:ext uri="{FF2B5EF4-FFF2-40B4-BE49-F238E27FC236}">
                <a16:creationId xmlns:a16="http://schemas.microsoft.com/office/drawing/2014/main" id="{1921AD07-AD29-4AE9-895C-BA874FB8A86F}"/>
              </a:ext>
            </a:extLst>
          </p:cNvPr>
          <p:cNvSpPr>
            <a:spLocks noGrp="1"/>
          </p:cNvSpPr>
          <p:nvPr/>
        </p:nvSpPr>
        <p:spPr>
          <a:xfrm>
            <a:off x="7324725" y="2562225"/>
            <a:ext cx="476250" cy="47625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s1-node-number-3">
            <a:extLst>
              <a:ext uri="{FF2B5EF4-FFF2-40B4-BE49-F238E27FC236}">
                <a16:creationId xmlns:a16="http://schemas.microsoft.com/office/drawing/2014/main" id="{01263093-4CAA-43AE-8704-6BE8DA1B847A}"/>
              </a:ext>
            </a:extLst>
          </p:cNvPr>
          <p:cNvSpPr>
            <a:spLocks noGrp="1"/>
          </p:cNvSpPr>
          <p:nvPr/>
        </p:nvSpPr>
        <p:spPr>
          <a:xfrm>
            <a:off x="7324725" y="2619375"/>
            <a:ext cx="476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s1-stage-3">
            <a:extLst>
              <a:ext uri="{FF2B5EF4-FFF2-40B4-BE49-F238E27FC236}">
                <a16:creationId xmlns:a16="http://schemas.microsoft.com/office/drawing/2014/main" id="{3B8ADAEB-5831-4C8C-913E-D0F3A7D19DED}"/>
              </a:ext>
            </a:extLst>
          </p:cNvPr>
          <p:cNvSpPr>
            <a:spLocks noGrp="1"/>
          </p:cNvSpPr>
          <p:nvPr/>
        </p:nvSpPr>
        <p:spPr>
          <a:xfrm>
            <a:off x="6372225" y="1695450"/>
            <a:ext cx="2381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真实应用</a:t>
            </a:r>
          </a:p>
        </p:txBody>
      </p:sp>
      <p:sp>
        <p:nvSpPr>
          <p:cNvPr id="20" name="s1-topic-3">
            <a:extLst>
              <a:ext uri="{FF2B5EF4-FFF2-40B4-BE49-F238E27FC236}">
                <a16:creationId xmlns:a16="http://schemas.microsoft.com/office/drawing/2014/main" id="{B1AF07FA-17F5-4C98-830C-E298AB72EBC6}"/>
              </a:ext>
            </a:extLst>
          </p:cNvPr>
          <p:cNvSpPr>
            <a:spLocks noGrp="1"/>
          </p:cNvSpPr>
          <p:nvPr/>
        </p:nvSpPr>
        <p:spPr>
          <a:xfrm>
            <a:off x="6372225" y="2066925"/>
            <a:ext cx="2381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nginx</a:t>
            </a:r>
          </a:p>
        </p:txBody>
      </p:sp>
      <p:sp>
        <p:nvSpPr>
          <p:cNvPr id="21" name="s1-desc-3">
            <a:extLst>
              <a:ext uri="{FF2B5EF4-FFF2-40B4-BE49-F238E27FC236}">
                <a16:creationId xmlns:a16="http://schemas.microsoft.com/office/drawing/2014/main" id="{83BE397B-CEFA-4FC2-8CAD-163579C1C29A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400300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将完整应用失败缩小为 ioctl 阻塞点</a:t>
            </a:r>
          </a:p>
        </p:txBody>
      </p:sp>
      <p:sp>
        <p:nvSpPr>
          <p:cNvPr id="22" name="s1-node-4">
            <a:extLst>
              <a:ext uri="{FF2B5EF4-FFF2-40B4-BE49-F238E27FC236}">
                <a16:creationId xmlns:a16="http://schemas.microsoft.com/office/drawing/2014/main" id="{5653D289-D60A-4510-8AF0-5FCFD7F4A5DB}"/>
              </a:ext>
            </a:extLst>
          </p:cNvPr>
          <p:cNvSpPr>
            <a:spLocks noGrp="1"/>
          </p:cNvSpPr>
          <p:nvPr/>
        </p:nvSpPr>
        <p:spPr>
          <a:xfrm>
            <a:off x="10277475" y="2562225"/>
            <a:ext cx="476250" cy="47625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s1-node-number-4">
            <a:extLst>
              <a:ext uri="{FF2B5EF4-FFF2-40B4-BE49-F238E27FC236}">
                <a16:creationId xmlns:a16="http://schemas.microsoft.com/office/drawing/2014/main" id="{68B0DEF0-0EFA-416B-8D04-0D6E00BF2EDC}"/>
              </a:ext>
            </a:extLst>
          </p:cNvPr>
          <p:cNvSpPr>
            <a:spLocks noGrp="1"/>
          </p:cNvSpPr>
          <p:nvPr/>
        </p:nvSpPr>
        <p:spPr>
          <a:xfrm>
            <a:off x="10277475" y="2619375"/>
            <a:ext cx="47625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s1-stage-4">
            <a:extLst>
              <a:ext uri="{FF2B5EF4-FFF2-40B4-BE49-F238E27FC236}">
                <a16:creationId xmlns:a16="http://schemas.microsoft.com/office/drawing/2014/main" id="{01EE5D54-6989-4DB9-B159-B3B57333D5D9}"/>
              </a:ext>
            </a:extLst>
          </p:cNvPr>
          <p:cNvSpPr>
            <a:spLocks noGrp="1"/>
          </p:cNvSpPr>
          <p:nvPr/>
        </p:nvSpPr>
        <p:spPr>
          <a:xfrm>
            <a:off x="9324975" y="1695450"/>
            <a:ext cx="2381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系统能力</a:t>
            </a:r>
          </a:p>
        </p:txBody>
      </p:sp>
      <p:sp>
        <p:nvSpPr>
          <p:cNvPr id="25" name="s1-topic-4">
            <a:extLst>
              <a:ext uri="{FF2B5EF4-FFF2-40B4-BE49-F238E27FC236}">
                <a16:creationId xmlns:a16="http://schemas.microsoft.com/office/drawing/2014/main" id="{D8E39A7F-98CD-42EB-8AFC-8EE83B80FDF3}"/>
              </a:ext>
            </a:extLst>
          </p:cNvPr>
          <p:cNvSpPr>
            <a:spLocks noGrp="1"/>
          </p:cNvSpPr>
          <p:nvPr/>
        </p:nvSpPr>
        <p:spPr>
          <a:xfrm>
            <a:off x="9324975" y="2066925"/>
            <a:ext cx="23812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cgroup2</a:t>
            </a:r>
          </a:p>
        </p:txBody>
      </p:sp>
      <p:sp>
        <p:nvSpPr>
          <p:cNvPr id="26" name="s1-desc-4">
            <a:extLst>
              <a:ext uri="{FF2B5EF4-FFF2-40B4-BE49-F238E27FC236}">
                <a16:creationId xmlns:a16="http://schemas.microsoft.com/office/drawing/2014/main" id="{A8692451-5167-4537-AD42-FD3A91BDC49B}"/>
              </a:ext>
            </a:extLst>
          </p:cNvPr>
          <p:cNvSpPr>
            <a:spLocks noGrp="1"/>
          </p:cNvSpPr>
          <p:nvPr/>
        </p:nvSpPr>
        <p:spPr>
          <a:xfrm>
            <a:off x="9315450" y="3276600"/>
            <a:ext cx="2400300" cy="685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按 slice 建立 mount 与 hierarchy 基础</a:t>
            </a:r>
          </a:p>
        </p:txBody>
      </p:sp>
      <p:sp>
        <p:nvSpPr>
          <p:cNvPr id="27" name="s1-method-band">
            <a:extLst>
              <a:ext uri="{FF2B5EF4-FFF2-40B4-BE49-F238E27FC236}">
                <a16:creationId xmlns:a16="http://schemas.microsoft.com/office/drawing/2014/main" id="{67268261-9262-4A48-A7AA-50E303A66B67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11391900" cy="1466850"/>
          </a:xfrm>
          <a:prstGeom prst="rect">
            <a:avLst/>
          </a:prstGeom>
          <a:solidFill>
            <a:srgbClr val="F6F6F5"/>
          </a:solidFill>
        </p:spPr>
      </p:sp>
      <p:sp>
        <p:nvSpPr>
          <p:cNvPr id="28" name="s1-method-label">
            <a:extLst>
              <a:ext uri="{FF2B5EF4-FFF2-40B4-BE49-F238E27FC236}">
                <a16:creationId xmlns:a16="http://schemas.microsoft.com/office/drawing/2014/main" id="{D50E7001-5091-40C1-8209-1596A52960EF}"/>
              </a:ext>
            </a:extLst>
          </p:cNvPr>
          <p:cNvSpPr>
            <a:spLocks noGrp="1"/>
          </p:cNvSpPr>
          <p:nvPr/>
        </p:nvSpPr>
        <p:spPr>
          <a:xfrm>
            <a:off x="666750" y="4810125"/>
            <a:ext cx="2095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形成的工作方法</a:t>
            </a:r>
          </a:p>
        </p:txBody>
      </p:sp>
      <p:sp>
        <p:nvSpPr>
          <p:cNvPr id="29" name="s1-method-flow">
            <a:extLst>
              <a:ext uri="{FF2B5EF4-FFF2-40B4-BE49-F238E27FC236}">
                <a16:creationId xmlns:a16="http://schemas.microsoft.com/office/drawing/2014/main" id="{4EFEB695-16FC-4979-BEFC-EEB7C1077CA8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8394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用户态问题  →  focused 测例  →  Linux ABI 对照  →  最小修改  →  PR 边界  →  四架构验证</a:t>
            </a:r>
          </a:p>
        </p:txBody>
      </p:sp>
      <p:sp>
        <p:nvSpPr>
          <p:cNvPr id="30" name="s1-method-note">
            <a:extLst>
              <a:ext uri="{FF2B5EF4-FFF2-40B4-BE49-F238E27FC236}">
                <a16:creationId xmlns:a16="http://schemas.microsoft.com/office/drawing/2014/main" id="{5D46898B-9B56-48AF-8450-7D0257EE2979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95250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从“完成实验”转向围绕真实问题、测试证据和协作节奏做增量开发。</a:t>
            </a:r>
          </a:p>
        </p:txBody>
      </p:sp>
      <p:sp>
        <p:nvSpPr>
          <p:cNvPr id="31" name="s1-footer">
            <a:extLst>
              <a:ext uri="{FF2B5EF4-FFF2-40B4-BE49-F238E27FC236}">
                <a16:creationId xmlns:a16="http://schemas.microsoft.com/office/drawing/2014/main" id="{D0CED98E-C968-4229-B9C7-EBEC18F3E641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1381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2-accent-rule">
            <a:extLst>
              <a:ext uri="{FF2B5EF4-FFF2-40B4-BE49-F238E27FC236}">
                <a16:creationId xmlns:a16="http://schemas.microsoft.com/office/drawing/2014/main" id="{345316B3-396B-45D5-849D-00F440B6ED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2-section">
            <a:extLst>
              <a:ext uri="{FF2B5EF4-FFF2-40B4-BE49-F238E27FC236}">
                <a16:creationId xmlns:a16="http://schemas.microsoft.com/office/drawing/2014/main" id="{AA9115E9-ADBA-41B4-ACDC-A9BCB4E42924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5715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02  ·  基础 ABI</a:t>
            </a:r>
          </a:p>
        </p:txBody>
      </p:sp>
      <p:sp>
        <p:nvSpPr>
          <p:cNvPr id="3" name="s2-title">
            <a:extLst>
              <a:ext uri="{FF2B5EF4-FFF2-40B4-BE49-F238E27FC236}">
                <a16:creationId xmlns:a16="http://schemas.microsoft.com/office/drawing/2014/main" id="{7A74AF55-95D2-4F24-A421-BA44CDBDE2B2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3919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 ABI 修复：从 signal 到 futex / robust-list</a:t>
            </a:r>
          </a:p>
        </p:txBody>
      </p:sp>
      <p:sp>
        <p:nvSpPr>
          <p:cNvPr id="4" name="s2-footer">
            <a:extLst>
              <a:ext uri="{FF2B5EF4-FFF2-40B4-BE49-F238E27FC236}">
                <a16:creationId xmlns:a16="http://schemas.microsoft.com/office/drawing/2014/main" id="{2E7ADA6E-D06B-4647-B3D3-F586ABFE5EC6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s2-divider">
            <a:extLst>
              <a:ext uri="{FF2B5EF4-FFF2-40B4-BE49-F238E27FC236}">
                <a16:creationId xmlns:a16="http://schemas.microsoft.com/office/drawing/2014/main" id="{447A05FD-FE55-4565-BF2C-74B6CA59F1BB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11391900" cy="1905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6" name="s2-row-1">
            <a:extLst>
              <a:ext uri="{FF2B5EF4-FFF2-40B4-BE49-F238E27FC236}">
                <a16:creationId xmlns:a16="http://schemas.microsoft.com/office/drawing/2014/main" id="{5F9B18E7-3959-47F8-ADE0-98F1E0D6AEBA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7667625" cy="1028700"/>
          </a:xfrm>
          <a:prstGeom prst="rect">
            <a:avLst/>
          </a:prstGeom>
          <a:solidFill>
            <a:srgbClr val="F6F6F5"/>
          </a:solidFill>
        </p:spPr>
      </p:sp>
      <p:sp>
        <p:nvSpPr>
          <p:cNvPr id="7" name="s2-row-accent-1">
            <a:extLst>
              <a:ext uri="{FF2B5EF4-FFF2-40B4-BE49-F238E27FC236}">
                <a16:creationId xmlns:a16="http://schemas.microsoft.com/office/drawing/2014/main" id="{D2796FEA-5FCB-4271-9342-B28223B53D57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76200" cy="102870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8" name="s2-pr-1">
            <a:extLst>
              <a:ext uri="{FF2B5EF4-FFF2-40B4-BE49-F238E27FC236}">
                <a16:creationId xmlns:a16="http://schemas.microsoft.com/office/drawing/2014/main" id="{AE3A8E28-E5CC-4207-A514-204D4C62952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#468</a:t>
            </a:r>
          </a:p>
        </p:txBody>
      </p:sp>
      <p:sp>
        <p:nvSpPr>
          <p:cNvPr id="9" name="s2-topic-1">
            <a:extLst>
              <a:ext uri="{FF2B5EF4-FFF2-40B4-BE49-F238E27FC236}">
                <a16:creationId xmlns:a16="http://schemas.microsoft.com/office/drawing/2014/main" id="{63B1DD2B-7881-405D-8146-0DA7EF53C4F4}"/>
              </a:ext>
            </a:extLst>
          </p:cNvPr>
          <p:cNvSpPr>
            <a:spLocks noGrp="1"/>
          </p:cNvSpPr>
          <p:nvPr/>
        </p:nvSpPr>
        <p:spPr>
          <a:xfrm>
            <a:off x="1695450" y="1828800"/>
            <a:ext cx="2476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signal restore</a:t>
            </a:r>
          </a:p>
        </p:txBody>
      </p:sp>
      <p:sp>
        <p:nvSpPr>
          <p:cNvPr id="10" name="s2-desc-1">
            <a:extLst>
              <a:ext uri="{FF2B5EF4-FFF2-40B4-BE49-F238E27FC236}">
                <a16:creationId xmlns:a16="http://schemas.microsoft.com/office/drawing/2014/main" id="{6109C7B0-5059-492A-9C53-5113FDE29552}"/>
              </a:ext>
            </a:extLst>
          </p:cNvPr>
          <p:cNvSpPr>
            <a:spLocks noGrp="1"/>
          </p:cNvSpPr>
          <p:nvPr/>
        </p:nvSpPr>
        <p:spPr>
          <a:xfrm>
            <a:off x="1695450" y="2190750"/>
            <a:ext cx="59436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移除 x86_64 特殊返回路径对其他架构的错误栈假设</a:t>
            </a:r>
          </a:p>
        </p:txBody>
      </p:sp>
      <p:sp>
        <p:nvSpPr>
          <p:cNvPr id="11" name="s2-row-2">
            <a:extLst>
              <a:ext uri="{FF2B5EF4-FFF2-40B4-BE49-F238E27FC236}">
                <a16:creationId xmlns:a16="http://schemas.microsoft.com/office/drawing/2014/main" id="{E153C622-D888-4A32-8EFF-AC086C0D56F7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7667625" cy="102870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12" name="s2-row-accent-2">
            <a:extLst>
              <a:ext uri="{FF2B5EF4-FFF2-40B4-BE49-F238E27FC236}">
                <a16:creationId xmlns:a16="http://schemas.microsoft.com/office/drawing/2014/main" id="{73E6C289-A19F-455A-8E57-47B52144F428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76200" cy="102870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13" name="s2-pr-2">
            <a:extLst>
              <a:ext uri="{FF2B5EF4-FFF2-40B4-BE49-F238E27FC236}">
                <a16:creationId xmlns:a16="http://schemas.microsoft.com/office/drawing/2014/main" id="{F7E256B3-4854-4A3D-95F1-FA0A7BA23990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8763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#545</a:t>
            </a:r>
          </a:p>
        </p:txBody>
      </p:sp>
      <p:sp>
        <p:nvSpPr>
          <p:cNvPr id="14" name="s2-topic-2">
            <a:extLst>
              <a:ext uri="{FF2B5EF4-FFF2-40B4-BE49-F238E27FC236}">
                <a16:creationId xmlns:a16="http://schemas.microsoft.com/office/drawing/2014/main" id="{0A9E73BD-FE17-4BC9-A388-1CD5A9A5E239}"/>
              </a:ext>
            </a:extLst>
          </p:cNvPr>
          <p:cNvSpPr>
            <a:spLocks noGrp="1"/>
          </p:cNvSpPr>
          <p:nvPr/>
        </p:nvSpPr>
        <p:spPr>
          <a:xfrm>
            <a:off x="1695450" y="3086100"/>
            <a:ext cx="2476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futex / robust-list</a:t>
            </a:r>
          </a:p>
        </p:txBody>
      </p:sp>
      <p:sp>
        <p:nvSpPr>
          <p:cNvPr id="15" name="s2-desc-2">
            <a:extLst>
              <a:ext uri="{FF2B5EF4-FFF2-40B4-BE49-F238E27FC236}">
                <a16:creationId xmlns:a16="http://schemas.microsoft.com/office/drawing/2014/main" id="{29B0BFCF-7D4C-4154-A388-349B600D76FB}"/>
              </a:ext>
            </a:extLst>
          </p:cNvPr>
          <p:cNvSpPr>
            <a:spLocks noGrp="1"/>
          </p:cNvSpPr>
          <p:nvPr/>
        </p:nvSpPr>
        <p:spPr>
          <a:xfrm>
            <a:off x="1695450" y="3448050"/>
            <a:ext cx="59436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修复 waiter 清理、requeue 身份与 owner death 基础语义</a:t>
            </a:r>
          </a:p>
        </p:txBody>
      </p:sp>
      <p:sp>
        <p:nvSpPr>
          <p:cNvPr id="16" name="s2-row-3">
            <a:extLst>
              <a:ext uri="{FF2B5EF4-FFF2-40B4-BE49-F238E27FC236}">
                <a16:creationId xmlns:a16="http://schemas.microsoft.com/office/drawing/2014/main" id="{734B2D59-0F14-4789-91CE-CD9D499C04D7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7667625" cy="1028700"/>
          </a:xfrm>
          <a:prstGeom prst="rect">
            <a:avLst/>
          </a:prstGeom>
          <a:solidFill>
            <a:srgbClr val="F6F6F5"/>
          </a:solidFill>
        </p:spPr>
      </p:sp>
      <p:sp>
        <p:nvSpPr>
          <p:cNvPr id="17" name="s2-row-accent-3">
            <a:extLst>
              <a:ext uri="{FF2B5EF4-FFF2-40B4-BE49-F238E27FC236}">
                <a16:creationId xmlns:a16="http://schemas.microsoft.com/office/drawing/2014/main" id="{622BB5CC-F222-47E2-8892-DD4535F3B47E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76200" cy="102870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18" name="s2-pr-3">
            <a:extLst>
              <a:ext uri="{FF2B5EF4-FFF2-40B4-BE49-F238E27FC236}">
                <a16:creationId xmlns:a16="http://schemas.microsoft.com/office/drawing/2014/main" id="{ECB07705-276F-49C2-81A5-38CE9C4B3EE8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8763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#657</a:t>
            </a:r>
          </a:p>
        </p:txBody>
      </p:sp>
      <p:sp>
        <p:nvSpPr>
          <p:cNvPr id="19" name="s2-topic-3">
            <a:extLst>
              <a:ext uri="{FF2B5EF4-FFF2-40B4-BE49-F238E27FC236}">
                <a16:creationId xmlns:a16="http://schemas.microsoft.com/office/drawing/2014/main" id="{614B86AF-7BEE-4BBE-8497-1176F98CC0BE}"/>
              </a:ext>
            </a:extLst>
          </p:cNvPr>
          <p:cNvSpPr>
            <a:spLocks noGrp="1"/>
          </p:cNvSpPr>
          <p:nvPr/>
        </p:nvSpPr>
        <p:spPr>
          <a:xfrm>
            <a:off x="1695450" y="4343400"/>
            <a:ext cx="2476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语义继续完善</a:t>
            </a:r>
          </a:p>
        </p:txBody>
      </p:sp>
      <p:sp>
        <p:nvSpPr>
          <p:cNvPr id="20" name="s2-desc-3">
            <a:extLst>
              <a:ext uri="{FF2B5EF4-FFF2-40B4-BE49-F238E27FC236}">
                <a16:creationId xmlns:a16="http://schemas.microsoft.com/office/drawing/2014/main" id="{F4649235-4685-4FBF-9C01-EF166E9EE655}"/>
              </a:ext>
            </a:extLst>
          </p:cNvPr>
          <p:cNvSpPr>
            <a:spLocks noGrp="1"/>
          </p:cNvSpPr>
          <p:nvPr/>
        </p:nvSpPr>
        <p:spPr>
          <a:xfrm>
            <a:off x="1695450" y="4705350"/>
            <a:ext cx="59436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集中解析 op/flag，补齐 key、pending entry 与坏链边界</a:t>
            </a:r>
          </a:p>
        </p:txBody>
      </p:sp>
      <p:sp>
        <p:nvSpPr>
          <p:cNvPr id="21" name="s2-metric-panel">
            <a:extLst>
              <a:ext uri="{FF2B5EF4-FFF2-40B4-BE49-F238E27FC236}">
                <a16:creationId xmlns:a16="http://schemas.microsoft.com/office/drawing/2014/main" id="{C26964A8-B327-4BD4-A084-B14637EC669C}"/>
              </a:ext>
            </a:extLst>
          </p:cNvPr>
          <p:cNvSpPr>
            <a:spLocks noGrp="1"/>
          </p:cNvSpPr>
          <p:nvPr/>
        </p:nvSpPr>
        <p:spPr>
          <a:xfrm>
            <a:off x="8429625" y="1657350"/>
            <a:ext cx="3362325" cy="3543300"/>
          </a:xfrm>
          <a:prstGeom prst="rect">
            <a:avLst/>
          </a:prstGeom>
          <a:solidFill>
            <a:srgbClr val="FFF1EA"/>
          </a:solidFill>
        </p:spPr>
      </p:sp>
      <p:sp>
        <p:nvSpPr>
          <p:cNvPr id="22" name="s2-metric-caption">
            <a:extLst>
              <a:ext uri="{FF2B5EF4-FFF2-40B4-BE49-F238E27FC236}">
                <a16:creationId xmlns:a16="http://schemas.microsoft.com/office/drawing/2014/main" id="{879493CE-0A24-4A0D-AD0F-4F41CA7F8541}"/>
              </a:ext>
            </a:extLst>
          </p:cNvPr>
          <p:cNvSpPr>
            <a:spLocks noGrp="1"/>
          </p:cNvSpPr>
          <p:nvPr/>
        </p:nvSpPr>
        <p:spPr>
          <a:xfrm>
            <a:off x="8743950" y="1952625"/>
            <a:ext cx="27051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focused 回归测试</a:t>
            </a:r>
          </a:p>
        </p:txBody>
      </p:sp>
      <p:sp>
        <p:nvSpPr>
          <p:cNvPr id="23" name="s2-metric-main">
            <a:extLst>
              <a:ext uri="{FF2B5EF4-FFF2-40B4-BE49-F238E27FC236}">
                <a16:creationId xmlns:a16="http://schemas.microsoft.com/office/drawing/2014/main" id="{FE9F6D81-CB35-4272-BEB4-367D8E61AAE4}"/>
              </a:ext>
            </a:extLst>
          </p:cNvPr>
          <p:cNvSpPr>
            <a:spLocks noGrp="1"/>
          </p:cNvSpPr>
          <p:nvPr/>
        </p:nvSpPr>
        <p:spPr>
          <a:xfrm>
            <a:off x="8743950" y="2343150"/>
            <a:ext cx="2705100" cy="1028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57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146</a:t>
            </a:r>
          </a:p>
        </p:txBody>
      </p:sp>
      <p:sp>
        <p:nvSpPr>
          <p:cNvPr id="24" name="s2-metric-pass">
            <a:extLst>
              <a:ext uri="{FF2B5EF4-FFF2-40B4-BE49-F238E27FC236}">
                <a16:creationId xmlns:a16="http://schemas.microsoft.com/office/drawing/2014/main" id="{FE55A832-9A22-4FD9-BE5D-91486F5DEE60}"/>
              </a:ext>
            </a:extLst>
          </p:cNvPr>
          <p:cNvSpPr>
            <a:spLocks noGrp="1"/>
          </p:cNvSpPr>
          <p:nvPr/>
        </p:nvSpPr>
        <p:spPr>
          <a:xfrm>
            <a:off x="8743950" y="3333750"/>
            <a:ext cx="2705100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2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PASS</a:t>
            </a:r>
          </a:p>
        </p:txBody>
      </p:sp>
      <p:sp>
        <p:nvSpPr>
          <p:cNvPr id="25" name="s2-metric-zero">
            <a:extLst>
              <a:ext uri="{FF2B5EF4-FFF2-40B4-BE49-F238E27FC236}">
                <a16:creationId xmlns:a16="http://schemas.microsoft.com/office/drawing/2014/main" id="{897D851F-6FBF-4218-A1E7-BB45A410AA7E}"/>
              </a:ext>
            </a:extLst>
          </p:cNvPr>
          <p:cNvSpPr>
            <a:spLocks noGrp="1"/>
          </p:cNvSpPr>
          <p:nvPr/>
        </p:nvSpPr>
        <p:spPr>
          <a:xfrm>
            <a:off x="8743950" y="3962400"/>
            <a:ext cx="27051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 FAIL   ·   4 ARCH</a:t>
            </a:r>
          </a:p>
        </p:txBody>
      </p:sp>
      <p:sp>
        <p:nvSpPr>
          <p:cNvPr id="26" name="s2-metric-evidence">
            <a:extLst>
              <a:ext uri="{FF2B5EF4-FFF2-40B4-BE49-F238E27FC236}">
                <a16:creationId xmlns:a16="http://schemas.microsoft.com/office/drawing/2014/main" id="{0C076E60-A5CF-4040-9EEB-BC25440DB9D8}"/>
              </a:ext>
            </a:extLst>
          </p:cNvPr>
          <p:cNvSpPr>
            <a:spLocks noGrp="1"/>
          </p:cNvSpPr>
          <p:nvPr/>
        </p:nvSpPr>
        <p:spPr>
          <a:xfrm>
            <a:off x="8743950" y="4476750"/>
            <a:ext cx="2705100" cy="590550"/>
          </a:xfrm>
          <a:prstGeom prst="rect">
            <a:avLst/>
          </a:prstGeom>
        </p:spPr>
        <p:txBody>
          <a:bodyPr lIns="0" tIns="0" rIns="0" bIns="0" anchor="t">
            <a:normAutofit fontScale="96106"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1200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syscall</a:t>
            </a:r>
            <a:r>
              <a:rPr sz="1200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 C case
</a:t>
            </a:r>
            <a:r>
              <a:rPr sz="1200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覆盖</a:t>
            </a:r>
            <a:r>
              <a:rPr sz="1200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 wait / wake / </a:t>
            </a:r>
            <a:r>
              <a:rPr sz="1200" dirty="0" err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bitset</a:t>
            </a:r>
            <a:r>
              <a:rPr sz="1200" dirty="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 / requeue / owner death</a:t>
            </a:r>
          </a:p>
        </p:txBody>
      </p:sp>
      <p:sp>
        <p:nvSpPr>
          <p:cNvPr id="27" name="s2-boundary">
            <a:extLst>
              <a:ext uri="{FF2B5EF4-FFF2-40B4-BE49-F238E27FC236}">
                <a16:creationId xmlns:a16="http://schemas.microsoft.com/office/drawing/2014/main" id="{FE9E8313-DCFA-4B74-B657-CAC03C275592}"/>
              </a:ext>
            </a:extLst>
          </p:cNvPr>
          <p:cNvSpPr>
            <a:spLocks noGrp="1"/>
          </p:cNvSpPr>
          <p:nvPr/>
        </p:nvSpPr>
        <p:spPr>
          <a:xfrm>
            <a:off x="400050" y="5591175"/>
            <a:ext cx="11391900" cy="514350"/>
          </a:xfrm>
          <a:prstGeom prst="rect">
            <a:avLst/>
          </a:prstGeom>
          <a:solidFill>
            <a:srgbClr val="202124"/>
          </a:solidFill>
        </p:spPr>
      </p:sp>
      <p:sp>
        <p:nvSpPr>
          <p:cNvPr id="28" name="s2-boundary-text">
            <a:extLst>
              <a:ext uri="{FF2B5EF4-FFF2-40B4-BE49-F238E27FC236}">
                <a16:creationId xmlns:a16="http://schemas.microsoft.com/office/drawing/2014/main" id="{D7E34FBF-5EE8-4F3F-B737-4FCD1934AB7A}"/>
              </a:ext>
            </a:extLst>
          </p:cNvPr>
          <p:cNvSpPr>
            <a:spLocks noGrp="1"/>
          </p:cNvSpPr>
          <p:nvPr/>
        </p:nvSpPr>
        <p:spPr>
          <a:xfrm>
            <a:off x="666750" y="5743575"/>
            <a:ext cx="1083945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边界：未实现 PI futex、futex2、完整 signal restart 与 shared key 生命周期审计</a:t>
            </a:r>
          </a:p>
        </p:txBody>
      </p:sp>
    </p:spTree>
    <p:extLst>
      <p:ext uri="{BB962C8B-B14F-4D97-AF65-F5344CB8AC3E}">
        <p14:creationId xmlns:p14="http://schemas.microsoft.com/office/powerpoint/2010/main" val="95243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3-accent-rule">
            <a:extLst>
              <a:ext uri="{FF2B5EF4-FFF2-40B4-BE49-F238E27FC236}">
                <a16:creationId xmlns:a16="http://schemas.microsoft.com/office/drawing/2014/main" id="{2FF4E999-CD39-49E2-B0AB-8BEEF51D2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3-section">
            <a:extLst>
              <a:ext uri="{FF2B5EF4-FFF2-40B4-BE49-F238E27FC236}">
                <a16:creationId xmlns:a16="http://schemas.microsoft.com/office/drawing/2014/main" id="{A7196E45-6362-470A-A23F-4E2EBABF1B33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5715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03  ·  真实应用</a:t>
            </a:r>
          </a:p>
        </p:txBody>
      </p:sp>
      <p:sp>
        <p:nvSpPr>
          <p:cNvPr id="3" name="s3-title">
            <a:extLst>
              <a:ext uri="{FF2B5EF4-FFF2-40B4-BE49-F238E27FC236}">
                <a16:creationId xmlns:a16="http://schemas.microsoft.com/office/drawing/2014/main" id="{ECEA245C-3A46-4A0E-832C-E9E21E5A6D8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3919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nginx：把完整应用失败缩小成两个 ioctl 阻塞点</a:t>
            </a:r>
          </a:p>
        </p:txBody>
      </p:sp>
      <p:sp>
        <p:nvSpPr>
          <p:cNvPr id="4" name="s3-footer">
            <a:extLst>
              <a:ext uri="{FF2B5EF4-FFF2-40B4-BE49-F238E27FC236}">
                <a16:creationId xmlns:a16="http://schemas.microsoft.com/office/drawing/2014/main" id="{7E1F55EF-4073-44EB-81D8-7B83D75A0537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s3-connector-a-0">
            <a:extLst>
              <a:ext uri="{FF2B5EF4-FFF2-40B4-BE49-F238E27FC236}">
                <a16:creationId xmlns:a16="http://schemas.microsoft.com/office/drawing/2014/main" id="{F31333E5-35BD-448B-B650-E662AEA06B11}"/>
              </a:ext>
            </a:extLst>
          </p:cNvPr>
          <p:cNvSpPr>
            <a:spLocks noGrp="1"/>
          </p:cNvSpPr>
          <p:nvPr/>
        </p:nvSpPr>
        <p:spPr>
          <a:xfrm>
            <a:off x="3390900" y="2371725"/>
            <a:ext cx="647700" cy="3810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6" name="s3-connector-b-0">
            <a:extLst>
              <a:ext uri="{FF2B5EF4-FFF2-40B4-BE49-F238E27FC236}">
                <a16:creationId xmlns:a16="http://schemas.microsoft.com/office/drawing/2014/main" id="{F7DB3AE8-7AF4-4A6B-9C83-224096D2123A}"/>
              </a:ext>
            </a:extLst>
          </p:cNvPr>
          <p:cNvSpPr>
            <a:spLocks noGrp="1"/>
          </p:cNvSpPr>
          <p:nvPr/>
        </p:nvSpPr>
        <p:spPr>
          <a:xfrm>
            <a:off x="7239000" y="2371725"/>
            <a:ext cx="647700" cy="3810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7" name="s3-arrow-a-0">
            <a:extLst>
              <a:ext uri="{FF2B5EF4-FFF2-40B4-BE49-F238E27FC236}">
                <a16:creationId xmlns:a16="http://schemas.microsoft.com/office/drawing/2014/main" id="{248ACE78-2001-42AD-870C-D80630C18D66}"/>
              </a:ext>
            </a:extLst>
          </p:cNvPr>
          <p:cNvSpPr>
            <a:spLocks noGrp="1"/>
          </p:cNvSpPr>
          <p:nvPr/>
        </p:nvSpPr>
        <p:spPr>
          <a:xfrm>
            <a:off x="3495675" y="2124075"/>
            <a:ext cx="457200" cy="361950"/>
          </a:xfrm>
          <a:prstGeom prst="rect">
            <a:avLst/>
          </a:prstGeom>
        </p:spPr>
        <p:txBody>
          <a:bodyPr lIns="0" tIns="0" rIns="0" bIns="0" anchor="t">
            <a:normAutofit fontScale="97496"/>
          </a:bodyPr>
          <a:lstStyle/>
          <a:p>
            <a:pPr algn="ctr">
              <a:lnSpc>
                <a:spcPct val="112000"/>
              </a:lnSpc>
              <a:buNone/>
            </a:pPr>
            <a:r>
              <a:rPr sz="2175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3-arrow-b-0">
            <a:extLst>
              <a:ext uri="{FF2B5EF4-FFF2-40B4-BE49-F238E27FC236}">
                <a16:creationId xmlns:a16="http://schemas.microsoft.com/office/drawing/2014/main" id="{0E421F14-5D90-4D9B-8379-314A2C9765F2}"/>
              </a:ext>
            </a:extLst>
          </p:cNvPr>
          <p:cNvSpPr>
            <a:spLocks noGrp="1"/>
          </p:cNvSpPr>
          <p:nvPr/>
        </p:nvSpPr>
        <p:spPr>
          <a:xfrm>
            <a:off x="7343775" y="2124075"/>
            <a:ext cx="457200" cy="361950"/>
          </a:xfrm>
          <a:prstGeom prst="rect">
            <a:avLst/>
          </a:prstGeom>
        </p:spPr>
        <p:txBody>
          <a:bodyPr lIns="0" tIns="0" rIns="0" bIns="0" anchor="t">
            <a:normAutofit fontScale="97496"/>
          </a:bodyPr>
          <a:lstStyle/>
          <a:p>
            <a:pPr algn="ctr">
              <a:lnSpc>
                <a:spcPct val="112000"/>
              </a:lnSpc>
              <a:buNone/>
            </a:pPr>
            <a:r>
              <a:rPr sz="2175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3-problem-0">
            <a:extLst>
              <a:ext uri="{FF2B5EF4-FFF2-40B4-BE49-F238E27FC236}">
                <a16:creationId xmlns:a16="http://schemas.microsoft.com/office/drawing/2014/main" id="{143ED71A-2C16-4089-A32A-EBEB06FA4906}"/>
              </a:ext>
            </a:extLst>
          </p:cNvPr>
          <p:cNvSpPr>
            <a:spLocks noGrp="1"/>
          </p:cNvSpPr>
          <p:nvPr/>
        </p:nvSpPr>
        <p:spPr>
          <a:xfrm>
            <a:off x="400050" y="1771650"/>
            <a:ext cx="2990850" cy="1238250"/>
          </a:xfrm>
          <a:prstGeom prst="rect">
            <a:avLst/>
          </a:prstGeom>
          <a:solidFill>
            <a:srgbClr val="F6F6F5"/>
          </a:solidFill>
        </p:spPr>
      </p:sp>
      <p:sp>
        <p:nvSpPr>
          <p:cNvPr id="10" name="s3-cause-0">
            <a:extLst>
              <a:ext uri="{FF2B5EF4-FFF2-40B4-BE49-F238E27FC236}">
                <a16:creationId xmlns:a16="http://schemas.microsoft.com/office/drawing/2014/main" id="{0E05D7D9-A02E-41DB-8D39-B41BAB81584B}"/>
              </a:ext>
            </a:extLst>
          </p:cNvPr>
          <p:cNvSpPr>
            <a:spLocks noGrp="1"/>
          </p:cNvSpPr>
          <p:nvPr/>
        </p:nvSpPr>
        <p:spPr>
          <a:xfrm>
            <a:off x="4038600" y="1771650"/>
            <a:ext cx="3200400" cy="123825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11" name="s3-fix-0">
            <a:extLst>
              <a:ext uri="{FF2B5EF4-FFF2-40B4-BE49-F238E27FC236}">
                <a16:creationId xmlns:a16="http://schemas.microsoft.com/office/drawing/2014/main" id="{FB6BE618-C9A3-4B5A-B451-B6285656EAF8}"/>
              </a:ext>
            </a:extLst>
          </p:cNvPr>
          <p:cNvSpPr>
            <a:spLocks noGrp="1"/>
          </p:cNvSpPr>
          <p:nvPr/>
        </p:nvSpPr>
        <p:spPr>
          <a:xfrm>
            <a:off x="7886700" y="1771650"/>
            <a:ext cx="3905250" cy="123825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12" name="s3-label-0">
            <a:extLst>
              <a:ext uri="{FF2B5EF4-FFF2-40B4-BE49-F238E27FC236}">
                <a16:creationId xmlns:a16="http://schemas.microsoft.com/office/drawing/2014/main" id="{DD0CEF3E-113A-4716-A69F-C2787B4FCA8B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11430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启动路径</a:t>
            </a:r>
          </a:p>
        </p:txBody>
      </p:sp>
      <p:sp>
        <p:nvSpPr>
          <p:cNvPr id="13" name="s3-problem-text-0">
            <a:extLst>
              <a:ext uri="{FF2B5EF4-FFF2-40B4-BE49-F238E27FC236}">
                <a16:creationId xmlns:a16="http://schemas.microsoft.com/office/drawing/2014/main" id="{A8FD3DC6-E3FC-499B-942E-0C5E82B6BA2B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26098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worker channel
初始化失败</a:t>
            </a:r>
          </a:p>
        </p:txBody>
      </p:sp>
      <p:sp>
        <p:nvSpPr>
          <p:cNvPr id="14" name="s3-cause-text-0">
            <a:extLst>
              <a:ext uri="{FF2B5EF4-FFF2-40B4-BE49-F238E27FC236}">
                <a16:creationId xmlns:a16="http://schemas.microsoft.com/office/drawing/2014/main" id="{5CA39D9E-DC80-4F7A-9FCF-83A487733CD4}"/>
              </a:ext>
            </a:extLst>
          </p:cNvPr>
          <p:cNvSpPr>
            <a:spLocks noGrp="1"/>
          </p:cNvSpPr>
          <p:nvPr/>
        </p:nvSpPr>
        <p:spPr>
          <a:xfrm>
            <a:off x="4305300" y="2171700"/>
            <a:ext cx="2667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缺少 FIOASYNC
与 socket owner</a:t>
            </a:r>
          </a:p>
        </p:txBody>
      </p:sp>
      <p:sp>
        <p:nvSpPr>
          <p:cNvPr id="15" name="s3-fix-text-0">
            <a:extLst>
              <a:ext uri="{FF2B5EF4-FFF2-40B4-BE49-F238E27FC236}">
                <a16:creationId xmlns:a16="http://schemas.microsoft.com/office/drawing/2014/main" id="{E7F67770-48BA-47A7-B4D3-69439AACDFD4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333375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#796
补齐最小状态语义与 focused case</a:t>
            </a:r>
          </a:p>
        </p:txBody>
      </p:sp>
      <p:sp>
        <p:nvSpPr>
          <p:cNvPr id="16" name="s3-connector-a-1">
            <a:extLst>
              <a:ext uri="{FF2B5EF4-FFF2-40B4-BE49-F238E27FC236}">
                <a16:creationId xmlns:a16="http://schemas.microsoft.com/office/drawing/2014/main" id="{63B0394C-7658-463A-A322-22542E054630}"/>
              </a:ext>
            </a:extLst>
          </p:cNvPr>
          <p:cNvSpPr>
            <a:spLocks noGrp="1"/>
          </p:cNvSpPr>
          <p:nvPr/>
        </p:nvSpPr>
        <p:spPr>
          <a:xfrm>
            <a:off x="3390900" y="4124325"/>
            <a:ext cx="647700" cy="3810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17" name="s3-connector-b-1">
            <a:extLst>
              <a:ext uri="{FF2B5EF4-FFF2-40B4-BE49-F238E27FC236}">
                <a16:creationId xmlns:a16="http://schemas.microsoft.com/office/drawing/2014/main" id="{9B26791C-6508-4881-A5EB-D49D1EB6F99F}"/>
              </a:ext>
            </a:extLst>
          </p:cNvPr>
          <p:cNvSpPr>
            <a:spLocks noGrp="1"/>
          </p:cNvSpPr>
          <p:nvPr/>
        </p:nvSpPr>
        <p:spPr>
          <a:xfrm>
            <a:off x="7239000" y="4124325"/>
            <a:ext cx="647700" cy="3810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18" name="s3-arrow-a-1">
            <a:extLst>
              <a:ext uri="{FF2B5EF4-FFF2-40B4-BE49-F238E27FC236}">
                <a16:creationId xmlns:a16="http://schemas.microsoft.com/office/drawing/2014/main" id="{4E36E34F-F9BA-436F-8A23-25B8BFE91BDE}"/>
              </a:ext>
            </a:extLst>
          </p:cNvPr>
          <p:cNvSpPr>
            <a:spLocks noGrp="1"/>
          </p:cNvSpPr>
          <p:nvPr/>
        </p:nvSpPr>
        <p:spPr>
          <a:xfrm>
            <a:off x="3495675" y="3876675"/>
            <a:ext cx="457200" cy="361950"/>
          </a:xfrm>
          <a:prstGeom prst="rect">
            <a:avLst/>
          </a:prstGeom>
        </p:spPr>
        <p:txBody>
          <a:bodyPr lIns="0" tIns="0" rIns="0" bIns="0" anchor="t">
            <a:normAutofit fontScale="97496"/>
          </a:bodyPr>
          <a:lstStyle/>
          <a:p>
            <a:pPr algn="ctr">
              <a:lnSpc>
                <a:spcPct val="112000"/>
              </a:lnSpc>
              <a:buNone/>
            </a:pPr>
            <a:r>
              <a:rPr sz="2175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s3-arrow-b-1">
            <a:extLst>
              <a:ext uri="{FF2B5EF4-FFF2-40B4-BE49-F238E27FC236}">
                <a16:creationId xmlns:a16="http://schemas.microsoft.com/office/drawing/2014/main" id="{2ACE51B3-9BED-4154-BD7C-0E3C69B5362E}"/>
              </a:ext>
            </a:extLst>
          </p:cNvPr>
          <p:cNvSpPr>
            <a:spLocks noGrp="1"/>
          </p:cNvSpPr>
          <p:nvPr/>
        </p:nvSpPr>
        <p:spPr>
          <a:xfrm>
            <a:off x="7343775" y="3876675"/>
            <a:ext cx="457200" cy="361950"/>
          </a:xfrm>
          <a:prstGeom prst="rect">
            <a:avLst/>
          </a:prstGeom>
        </p:spPr>
        <p:txBody>
          <a:bodyPr lIns="0" tIns="0" rIns="0" bIns="0" anchor="t">
            <a:normAutofit fontScale="97496"/>
          </a:bodyPr>
          <a:lstStyle/>
          <a:p>
            <a:pPr algn="ctr">
              <a:lnSpc>
                <a:spcPct val="112000"/>
              </a:lnSpc>
              <a:buNone/>
            </a:pPr>
            <a:r>
              <a:rPr sz="2175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s3-problem-1">
            <a:extLst>
              <a:ext uri="{FF2B5EF4-FFF2-40B4-BE49-F238E27FC236}">
                <a16:creationId xmlns:a16="http://schemas.microsoft.com/office/drawing/2014/main" id="{7099700F-1D26-4297-BFBB-332EE6667252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2990850" cy="1238250"/>
          </a:xfrm>
          <a:prstGeom prst="rect">
            <a:avLst/>
          </a:prstGeom>
          <a:solidFill>
            <a:srgbClr val="F6F6F5"/>
          </a:solidFill>
        </p:spPr>
      </p:sp>
      <p:sp>
        <p:nvSpPr>
          <p:cNvPr id="21" name="s3-cause-1">
            <a:extLst>
              <a:ext uri="{FF2B5EF4-FFF2-40B4-BE49-F238E27FC236}">
                <a16:creationId xmlns:a16="http://schemas.microsoft.com/office/drawing/2014/main" id="{9C76D9ED-74A1-45F2-9D33-68CFB7744703}"/>
              </a:ext>
            </a:extLst>
          </p:cNvPr>
          <p:cNvSpPr>
            <a:spLocks noGrp="1"/>
          </p:cNvSpPr>
          <p:nvPr/>
        </p:nvSpPr>
        <p:spPr>
          <a:xfrm>
            <a:off x="4038600" y="3524250"/>
            <a:ext cx="3200400" cy="123825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22" name="s3-fix-1">
            <a:extLst>
              <a:ext uri="{FF2B5EF4-FFF2-40B4-BE49-F238E27FC236}">
                <a16:creationId xmlns:a16="http://schemas.microsoft.com/office/drawing/2014/main" id="{67020B47-374B-4676-BC51-7A85CFE87401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3905250" cy="1238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3" name="s3-label-1">
            <a:extLst>
              <a:ext uri="{FF2B5EF4-FFF2-40B4-BE49-F238E27FC236}">
                <a16:creationId xmlns:a16="http://schemas.microsoft.com/office/drawing/2014/main" id="{996C9CB0-3DFF-4761-BC4C-7A4B9DE49557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1430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请求路径</a:t>
            </a:r>
          </a:p>
        </p:txBody>
      </p:sp>
      <p:sp>
        <p:nvSpPr>
          <p:cNvPr id="24" name="s3-problem-text-1">
            <a:extLst>
              <a:ext uri="{FF2B5EF4-FFF2-40B4-BE49-F238E27FC236}">
                <a16:creationId xmlns:a16="http://schemas.microsoft.com/office/drawing/2014/main" id="{AF176C4F-D323-4A61-B6E9-69A71270FF27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260985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超限 POST
返回 empty reply</a:t>
            </a:r>
          </a:p>
        </p:txBody>
      </p:sp>
      <p:sp>
        <p:nvSpPr>
          <p:cNvPr id="25" name="s3-cause-text-1">
            <a:extLst>
              <a:ext uri="{FF2B5EF4-FFF2-40B4-BE49-F238E27FC236}">
                <a16:creationId xmlns:a16="http://schemas.microsoft.com/office/drawing/2014/main" id="{9EB7B4A2-C91E-4736-B42D-29043A61ADBE}"/>
              </a:ext>
            </a:extLst>
          </p:cNvPr>
          <p:cNvSpPr>
            <a:spLocks noGrp="1"/>
          </p:cNvSpPr>
          <p:nvPr/>
        </p:nvSpPr>
        <p:spPr>
          <a:xfrm>
            <a:off x="4305300" y="3924300"/>
            <a:ext cx="2667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TCP FIONREAD
返回 ENOTTY</a:t>
            </a:r>
          </a:p>
        </p:txBody>
      </p:sp>
      <p:sp>
        <p:nvSpPr>
          <p:cNvPr id="26" name="s3-fix-text-1">
            <a:extLst>
              <a:ext uri="{FF2B5EF4-FFF2-40B4-BE49-F238E27FC236}">
                <a16:creationId xmlns:a16="http://schemas.microsoft.com/office/drawing/2014/main" id="{083BA6C3-619C-4495-A944-DC94A5944790}"/>
              </a:ext>
            </a:extLst>
          </p:cNvPr>
          <p:cNvSpPr>
            <a:spLocks noGrp="1"/>
          </p:cNvSpPr>
          <p:nvPr/>
        </p:nvSpPr>
        <p:spPr>
          <a:xfrm>
            <a:off x="8172450" y="3848100"/>
            <a:ext cx="3333750" cy="781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#869
读取未读字节数 → 预期 413</a:t>
            </a:r>
          </a:p>
        </p:txBody>
      </p:sp>
      <p:sp>
        <p:nvSpPr>
          <p:cNvPr id="27" name="s3-takeaway">
            <a:extLst>
              <a:ext uri="{FF2B5EF4-FFF2-40B4-BE49-F238E27FC236}">
                <a16:creationId xmlns:a16="http://schemas.microsoft.com/office/drawing/2014/main" id="{A84F4D38-6536-48EA-A046-44ED33C7B18B}"/>
              </a:ext>
            </a:extLst>
          </p:cNvPr>
          <p:cNvSpPr>
            <a:spLocks noGrp="1"/>
          </p:cNvSpPr>
          <p:nvPr/>
        </p:nvSpPr>
        <p:spPr>
          <a:xfrm>
            <a:off x="400050" y="5295900"/>
            <a:ext cx="11391900" cy="800100"/>
          </a:xfrm>
          <a:prstGeom prst="rect">
            <a:avLst/>
          </a:prstGeom>
          <a:solidFill>
            <a:srgbClr val="FFF1EA"/>
          </a:solidFill>
        </p:spPr>
      </p:sp>
      <p:sp>
        <p:nvSpPr>
          <p:cNvPr id="28" name="s3-takeaway-label">
            <a:extLst>
              <a:ext uri="{FF2B5EF4-FFF2-40B4-BE49-F238E27FC236}">
                <a16:creationId xmlns:a16="http://schemas.microsoft.com/office/drawing/2014/main" id="{7D1BFB28-9AD4-498B-ABB0-1CDDC77A81B9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6858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9" name="s3-takeaway-text">
            <a:extLst>
              <a:ext uri="{FF2B5EF4-FFF2-40B4-BE49-F238E27FC236}">
                <a16:creationId xmlns:a16="http://schemas.microsoft.com/office/drawing/2014/main" id="{3C6E28A6-63D0-4482-BA94-F9471ACFF26D}"/>
              </a:ext>
            </a:extLst>
          </p:cNvPr>
          <p:cNvSpPr>
            <a:spLocks noGrp="1"/>
          </p:cNvSpPr>
          <p:nvPr/>
        </p:nvSpPr>
        <p:spPr>
          <a:xfrm>
            <a:off x="1504950" y="5505450"/>
            <a:ext cx="97917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 nginx 用于暴露阻塞点；独立 C 测例用于固化 ABI 行为并建立回归证据。</a:t>
            </a:r>
          </a:p>
        </p:txBody>
      </p:sp>
    </p:spTree>
    <p:extLst>
      <p:ext uri="{BB962C8B-B14F-4D97-AF65-F5344CB8AC3E}">
        <p14:creationId xmlns:p14="http://schemas.microsoft.com/office/powerpoint/2010/main" val="16614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4-accent-rule">
            <a:extLst>
              <a:ext uri="{FF2B5EF4-FFF2-40B4-BE49-F238E27FC236}">
                <a16:creationId xmlns:a16="http://schemas.microsoft.com/office/drawing/2014/main" id="{FA2B0989-3FD6-4E44-9EAF-144AD9C45B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4-section">
            <a:extLst>
              <a:ext uri="{FF2B5EF4-FFF2-40B4-BE49-F238E27FC236}">
                <a16:creationId xmlns:a16="http://schemas.microsoft.com/office/drawing/2014/main" id="{584EA5AC-6059-4FF2-8DDD-2BAFD7E2FB6F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5715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04  ·  系统能力</a:t>
            </a:r>
          </a:p>
        </p:txBody>
      </p:sp>
      <p:sp>
        <p:nvSpPr>
          <p:cNvPr id="3" name="s4-title">
            <a:extLst>
              <a:ext uri="{FF2B5EF4-FFF2-40B4-BE49-F238E27FC236}">
                <a16:creationId xmlns:a16="http://schemas.microsoft.com/office/drawing/2014/main" id="{6A4F9E3D-099B-49B5-A8CE-3A33FDF14B17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3919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cgroup2：按 slice 推进，明确已合并与未合并</a:t>
            </a:r>
          </a:p>
        </p:txBody>
      </p:sp>
      <p:sp>
        <p:nvSpPr>
          <p:cNvPr id="4" name="s4-footer">
            <a:extLst>
              <a:ext uri="{FF2B5EF4-FFF2-40B4-BE49-F238E27FC236}">
                <a16:creationId xmlns:a16="http://schemas.microsoft.com/office/drawing/2014/main" id="{D4AE97D3-BE96-4477-9A59-F330098C15B3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s4-progress-line">
            <a:extLst>
              <a:ext uri="{FF2B5EF4-FFF2-40B4-BE49-F238E27FC236}">
                <a16:creationId xmlns:a16="http://schemas.microsoft.com/office/drawing/2014/main" id="{2EDAC5CB-403E-49D2-A366-9886AAD3E241}"/>
              </a:ext>
            </a:extLst>
          </p:cNvPr>
          <p:cNvSpPr>
            <a:spLocks noGrp="1"/>
          </p:cNvSpPr>
          <p:nvPr/>
        </p:nvSpPr>
        <p:spPr>
          <a:xfrm>
            <a:off x="1657350" y="2219325"/>
            <a:ext cx="8858250" cy="3810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6" name="s4-step-1">
            <a:extLst>
              <a:ext uri="{FF2B5EF4-FFF2-40B4-BE49-F238E27FC236}">
                <a16:creationId xmlns:a16="http://schemas.microsoft.com/office/drawing/2014/main" id="{4D467F6D-ED22-4E18-A498-23E0F6E5D170}"/>
              </a:ext>
            </a:extLst>
          </p:cNvPr>
          <p:cNvSpPr>
            <a:spLocks noGrp="1"/>
          </p:cNvSpPr>
          <p:nvPr/>
        </p:nvSpPr>
        <p:spPr>
          <a:xfrm>
            <a:off x="400050" y="1647825"/>
            <a:ext cx="2590800" cy="285750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7" name="s4-step-no-1">
            <a:extLst>
              <a:ext uri="{FF2B5EF4-FFF2-40B4-BE49-F238E27FC236}">
                <a16:creationId xmlns:a16="http://schemas.microsoft.com/office/drawing/2014/main" id="{610EDB6F-44DA-4DEB-9197-A0784BDB8104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6096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s4-step-title-1">
            <a:extLst>
              <a:ext uri="{FF2B5EF4-FFF2-40B4-BE49-F238E27FC236}">
                <a16:creationId xmlns:a16="http://schemas.microsoft.com/office/drawing/2014/main" id="{BB204461-A69E-4AD6-9FD5-B30F4EBC2F3B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171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mount 与 root files</a:t>
            </a:r>
          </a:p>
        </p:txBody>
      </p:sp>
      <p:sp>
        <p:nvSpPr>
          <p:cNvPr id="9" name="s4-step-pr-1">
            <a:extLst>
              <a:ext uri="{FF2B5EF4-FFF2-40B4-BE49-F238E27FC236}">
                <a16:creationId xmlns:a16="http://schemas.microsoft.com/office/drawing/2014/main" id="{EE6CEF83-60D2-4C74-87E9-07F8375DF1BF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1717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#989 · MERGED</a:t>
            </a:r>
          </a:p>
        </p:txBody>
      </p:sp>
      <p:sp>
        <p:nvSpPr>
          <p:cNvPr id="10" name="s4-step-note-1">
            <a:extLst>
              <a:ext uri="{FF2B5EF4-FFF2-40B4-BE49-F238E27FC236}">
                <a16:creationId xmlns:a16="http://schemas.microsoft.com/office/drawing/2014/main" id="{EA49840F-A99F-4FC0-BFD7-7DB545A49301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21717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cgroup.procs
controllers / subtree_control</a:t>
            </a:r>
          </a:p>
        </p:txBody>
      </p:sp>
      <p:sp>
        <p:nvSpPr>
          <p:cNvPr id="11" name="s4-step-2">
            <a:extLst>
              <a:ext uri="{FF2B5EF4-FFF2-40B4-BE49-F238E27FC236}">
                <a16:creationId xmlns:a16="http://schemas.microsoft.com/office/drawing/2014/main" id="{5226F84F-EDAE-44F9-93D2-5476B5834C85}"/>
              </a:ext>
            </a:extLst>
          </p:cNvPr>
          <p:cNvSpPr>
            <a:spLocks noGrp="1"/>
          </p:cNvSpPr>
          <p:nvPr/>
        </p:nvSpPr>
        <p:spPr>
          <a:xfrm>
            <a:off x="3333750" y="1647825"/>
            <a:ext cx="2590800" cy="2857500"/>
          </a:xfrm>
          <a:prstGeom prst="rect">
            <a:avLst/>
          </a:prstGeom>
          <a:solidFill>
            <a:srgbClr val="111111"/>
          </a:solidFill>
        </p:spPr>
      </p:sp>
      <p:sp>
        <p:nvSpPr>
          <p:cNvPr id="12" name="s4-step-no-2">
            <a:extLst>
              <a:ext uri="{FF2B5EF4-FFF2-40B4-BE49-F238E27FC236}">
                <a16:creationId xmlns:a16="http://schemas.microsoft.com/office/drawing/2014/main" id="{CDF6F6B0-1F3D-4CBF-B539-ED1B281A4672}"/>
              </a:ext>
            </a:extLst>
          </p:cNvPr>
          <p:cNvSpPr>
            <a:spLocks noGrp="1"/>
          </p:cNvSpPr>
          <p:nvPr/>
        </p:nvSpPr>
        <p:spPr>
          <a:xfrm>
            <a:off x="3543300" y="1847850"/>
            <a:ext cx="6096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s4-step-title-2">
            <a:extLst>
              <a:ext uri="{FF2B5EF4-FFF2-40B4-BE49-F238E27FC236}">
                <a16:creationId xmlns:a16="http://schemas.microsoft.com/office/drawing/2014/main" id="{37824EFC-E630-4A01-92A6-2D91BB6E6CD8}"/>
              </a:ext>
            </a:extLst>
          </p:cNvPr>
          <p:cNvSpPr>
            <a:spLocks noGrp="1"/>
          </p:cNvSpPr>
          <p:nvPr/>
        </p:nvSpPr>
        <p:spPr>
          <a:xfrm>
            <a:off x="3543300" y="2381250"/>
            <a:ext cx="2171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hierarchy</a:t>
            </a:r>
          </a:p>
        </p:txBody>
      </p:sp>
      <p:sp>
        <p:nvSpPr>
          <p:cNvPr id="14" name="s4-step-pr-2">
            <a:extLst>
              <a:ext uri="{FF2B5EF4-FFF2-40B4-BE49-F238E27FC236}">
                <a16:creationId xmlns:a16="http://schemas.microsoft.com/office/drawing/2014/main" id="{2CC4DD8E-7442-48DF-95A4-D52F26F70BCD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21717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#1015 · MERGED</a:t>
            </a:r>
          </a:p>
        </p:txBody>
      </p:sp>
      <p:sp>
        <p:nvSpPr>
          <p:cNvPr id="15" name="s4-step-note-2">
            <a:extLst>
              <a:ext uri="{FF2B5EF4-FFF2-40B4-BE49-F238E27FC236}">
                <a16:creationId xmlns:a16="http://schemas.microsoft.com/office/drawing/2014/main" id="{47B0A7FC-F074-4599-8347-AA98E0290556}"/>
              </a:ext>
            </a:extLst>
          </p:cNvPr>
          <p:cNvSpPr>
            <a:spLocks noGrp="1"/>
          </p:cNvSpPr>
          <p:nvPr/>
        </p:nvSpPr>
        <p:spPr>
          <a:xfrm>
            <a:off x="3543300" y="3562350"/>
            <a:ext cx="21717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child mkdir / rmdir
动态目录与 VFS cache</a:t>
            </a:r>
          </a:p>
        </p:txBody>
      </p:sp>
      <p:sp>
        <p:nvSpPr>
          <p:cNvPr id="16" name="s4-step-3">
            <a:extLst>
              <a:ext uri="{FF2B5EF4-FFF2-40B4-BE49-F238E27FC236}">
                <a16:creationId xmlns:a16="http://schemas.microsoft.com/office/drawing/2014/main" id="{170E9814-1DD3-4977-8862-08028DAA23B0}"/>
              </a:ext>
            </a:extLst>
          </p:cNvPr>
          <p:cNvSpPr>
            <a:spLocks noGrp="1"/>
          </p:cNvSpPr>
          <p:nvPr/>
        </p:nvSpPr>
        <p:spPr>
          <a:xfrm>
            <a:off x="6267450" y="1647825"/>
            <a:ext cx="2590800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s4-step-no-3">
            <a:extLst>
              <a:ext uri="{FF2B5EF4-FFF2-40B4-BE49-F238E27FC236}">
                <a16:creationId xmlns:a16="http://schemas.microsoft.com/office/drawing/2014/main" id="{15AA31E3-B83F-4DFD-9D64-4F785F370994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6096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s4-step-title-3">
            <a:extLst>
              <a:ext uri="{FF2B5EF4-FFF2-40B4-BE49-F238E27FC236}">
                <a16:creationId xmlns:a16="http://schemas.microsoft.com/office/drawing/2014/main" id="{EB488BC9-B29D-4766-AC1A-98E3DEFCDD5C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2171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process migration</a:t>
            </a:r>
          </a:p>
        </p:txBody>
      </p:sp>
      <p:sp>
        <p:nvSpPr>
          <p:cNvPr id="19" name="s4-step-pr-3">
            <a:extLst>
              <a:ext uri="{FF2B5EF4-FFF2-40B4-BE49-F238E27FC236}">
                <a16:creationId xmlns:a16="http://schemas.microsoft.com/office/drawing/2014/main" id="{12951ED7-9DE4-4156-B180-ED87246C992B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21717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#1045 · CLOSED / UNMERGED</a:t>
            </a:r>
          </a:p>
        </p:txBody>
      </p:sp>
      <p:sp>
        <p:nvSpPr>
          <p:cNvPr id="20" name="s4-step-note-3">
            <a:extLst>
              <a:ext uri="{FF2B5EF4-FFF2-40B4-BE49-F238E27FC236}">
                <a16:creationId xmlns:a16="http://schemas.microsoft.com/office/drawing/2014/main" id="{A578C4B0-805C-410E-9063-0F1B947CA17A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21717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cgroup.procs 写入
fork / exit / procfs</a:t>
            </a:r>
          </a:p>
        </p:txBody>
      </p:sp>
      <p:sp>
        <p:nvSpPr>
          <p:cNvPr id="21" name="s4-step-4">
            <a:extLst>
              <a:ext uri="{FF2B5EF4-FFF2-40B4-BE49-F238E27FC236}">
                <a16:creationId xmlns:a16="http://schemas.microsoft.com/office/drawing/2014/main" id="{ADCEE23B-8194-496B-A3C7-BDDD7449FE7E}"/>
              </a:ext>
            </a:extLst>
          </p:cNvPr>
          <p:cNvSpPr>
            <a:spLocks noGrp="1"/>
          </p:cNvSpPr>
          <p:nvPr/>
        </p:nvSpPr>
        <p:spPr>
          <a:xfrm>
            <a:off x="9201150" y="1647825"/>
            <a:ext cx="2590800" cy="285750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22" name="s4-step-no-4">
            <a:extLst>
              <a:ext uri="{FF2B5EF4-FFF2-40B4-BE49-F238E27FC236}">
                <a16:creationId xmlns:a16="http://schemas.microsoft.com/office/drawing/2014/main" id="{2D2D27B4-D8BF-40F8-B297-7FBF0F1864F6}"/>
              </a:ext>
            </a:extLst>
          </p:cNvPr>
          <p:cNvSpPr>
            <a:spLocks noGrp="1"/>
          </p:cNvSpPr>
          <p:nvPr/>
        </p:nvSpPr>
        <p:spPr>
          <a:xfrm>
            <a:off x="9410700" y="1847850"/>
            <a:ext cx="6096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5D626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s4-step-title-4">
            <a:extLst>
              <a:ext uri="{FF2B5EF4-FFF2-40B4-BE49-F238E27FC236}">
                <a16:creationId xmlns:a16="http://schemas.microsoft.com/office/drawing/2014/main" id="{97E0CF8A-45FA-4CE3-96F3-C7A76A1B813B}"/>
              </a:ext>
            </a:extLst>
          </p:cNvPr>
          <p:cNvSpPr>
            <a:spLocks noGrp="1"/>
          </p:cNvSpPr>
          <p:nvPr/>
        </p:nvSpPr>
        <p:spPr>
          <a:xfrm>
            <a:off x="9410700" y="2381250"/>
            <a:ext cx="2171700" cy="590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50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controllers / Docker</a:t>
            </a:r>
          </a:p>
        </p:txBody>
      </p:sp>
      <p:sp>
        <p:nvSpPr>
          <p:cNvPr id="24" name="s4-step-pr-4">
            <a:extLst>
              <a:ext uri="{FF2B5EF4-FFF2-40B4-BE49-F238E27FC236}">
                <a16:creationId xmlns:a16="http://schemas.microsoft.com/office/drawing/2014/main" id="{A572E57E-213A-4CDA-8F48-5192489A7EAD}"/>
              </a:ext>
            </a:extLst>
          </p:cNvPr>
          <p:cNvSpPr>
            <a:spLocks noGrp="1"/>
          </p:cNvSpPr>
          <p:nvPr/>
        </p:nvSpPr>
        <p:spPr>
          <a:xfrm>
            <a:off x="9410700" y="3105150"/>
            <a:ext cx="21717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5D626A"/>
                </a:solidFill>
                <a:latin typeface="Consolas"/>
                <a:ea typeface="Consolas"/>
                <a:cs typeface="Consolas"/>
              </a:rPr>
              <a:t>NOT STARTED</a:t>
            </a:r>
          </a:p>
        </p:txBody>
      </p:sp>
      <p:sp>
        <p:nvSpPr>
          <p:cNvPr id="25" name="s4-step-note-4">
            <a:extLst>
              <a:ext uri="{FF2B5EF4-FFF2-40B4-BE49-F238E27FC236}">
                <a16:creationId xmlns:a16="http://schemas.microsoft.com/office/drawing/2014/main" id="{4F487E39-93EE-47A7-AC06-BD1C7F1A4D86}"/>
              </a:ext>
            </a:extLst>
          </p:cNvPr>
          <p:cNvSpPr>
            <a:spLocks noGrp="1"/>
          </p:cNvSpPr>
          <p:nvPr/>
        </p:nvSpPr>
        <p:spPr>
          <a:xfrm>
            <a:off x="9410700" y="3562350"/>
            <a:ext cx="21717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pids / cpu / memory
完整容器兼容</a:t>
            </a:r>
          </a:p>
        </p:txBody>
      </p:sp>
      <p:sp>
        <p:nvSpPr>
          <p:cNvPr id="26" name="s4-test-strip">
            <a:extLst>
              <a:ext uri="{FF2B5EF4-FFF2-40B4-BE49-F238E27FC236}">
                <a16:creationId xmlns:a16="http://schemas.microsoft.com/office/drawing/2014/main" id="{F9AF448F-C557-4A35-8F53-55A40E41F2D0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3371850" cy="1123950"/>
          </a:xfrm>
          <a:prstGeom prst="rect">
            <a:avLst/>
          </a:prstGeom>
          <a:solidFill>
            <a:srgbClr val="FFF1EA"/>
          </a:solidFill>
        </p:spPr>
      </p:sp>
      <p:sp>
        <p:nvSpPr>
          <p:cNvPr id="27" name="s4-test-caption">
            <a:extLst>
              <a:ext uri="{FF2B5EF4-FFF2-40B4-BE49-F238E27FC236}">
                <a16:creationId xmlns:a16="http://schemas.microsoft.com/office/drawing/2014/main" id="{CAB25A40-6509-48DF-A136-8C848078D73F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14287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cgroup-basic</a:t>
            </a:r>
          </a:p>
        </p:txBody>
      </p:sp>
      <p:sp>
        <p:nvSpPr>
          <p:cNvPr id="28" name="s4-test-value">
            <a:extLst>
              <a:ext uri="{FF2B5EF4-FFF2-40B4-BE49-F238E27FC236}">
                <a16:creationId xmlns:a16="http://schemas.microsoft.com/office/drawing/2014/main" id="{27D664E9-6478-4688-AE39-897A2298380D}"/>
              </a:ext>
            </a:extLst>
          </p:cNvPr>
          <p:cNvSpPr>
            <a:spLocks noGrp="1"/>
          </p:cNvSpPr>
          <p:nvPr/>
        </p:nvSpPr>
        <p:spPr>
          <a:xfrm>
            <a:off x="666750" y="5514975"/>
            <a:ext cx="27622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1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11  →  43 pass</a:t>
            </a:r>
          </a:p>
        </p:txBody>
      </p:sp>
      <p:sp>
        <p:nvSpPr>
          <p:cNvPr id="29" name="s4-engineering-title">
            <a:extLst>
              <a:ext uri="{FF2B5EF4-FFF2-40B4-BE49-F238E27FC236}">
                <a16:creationId xmlns:a16="http://schemas.microsoft.com/office/drawing/2014/main" id="{2CF70621-0D8D-4E3E-BEBF-785AEF817AFB}"/>
              </a:ext>
            </a:extLst>
          </p:cNvPr>
          <p:cNvSpPr>
            <a:spLocks noGrp="1"/>
          </p:cNvSpPr>
          <p:nvPr/>
        </p:nvSpPr>
        <p:spPr>
          <a:xfrm>
            <a:off x="4171950" y="5010150"/>
            <a:ext cx="2571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实现中暴露的工程问题</a:t>
            </a:r>
          </a:p>
        </p:txBody>
      </p:sp>
      <p:sp>
        <p:nvSpPr>
          <p:cNvPr id="30" name="s4-engineering-a">
            <a:extLst>
              <a:ext uri="{FF2B5EF4-FFF2-40B4-BE49-F238E27FC236}">
                <a16:creationId xmlns:a16="http://schemas.microsoft.com/office/drawing/2014/main" id="{06EB0F42-8829-4079-B662-F28E5F13A40E}"/>
              </a:ext>
            </a:extLst>
          </p:cNvPr>
          <p:cNvSpPr>
            <a:spLocks noGrp="1"/>
          </p:cNvSpPr>
          <p:nvPr/>
        </p:nvSpPr>
        <p:spPr>
          <a:xfrm>
            <a:off x="4171950" y="5429250"/>
            <a:ext cx="230505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Consolas"/>
                <a:ea typeface="Consolas"/>
                <a:cs typeface="Consolas"/>
              </a:rPr>
              <a:t>动态 VFS 与 dentry cache</a:t>
            </a:r>
          </a:p>
        </p:txBody>
      </p:sp>
      <p:sp>
        <p:nvSpPr>
          <p:cNvPr id="31" name="s4-engineering-b">
            <a:extLst>
              <a:ext uri="{FF2B5EF4-FFF2-40B4-BE49-F238E27FC236}">
                <a16:creationId xmlns:a16="http://schemas.microsoft.com/office/drawing/2014/main" id="{FDEAB76E-76F9-4258-8803-86FC816079B7}"/>
              </a:ext>
            </a:extLst>
          </p:cNvPr>
          <p:cNvSpPr>
            <a:spLocks noGrp="1"/>
          </p:cNvSpPr>
          <p:nvPr/>
        </p:nvSpPr>
        <p:spPr>
          <a:xfrm>
            <a:off x="6762750" y="5429250"/>
            <a:ext cx="2095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Consolas"/>
                <a:ea typeface="Consolas"/>
                <a:cs typeface="Consolas"/>
              </a:rPr>
              <a:t>task / cgroup 锁顺序</a:t>
            </a:r>
          </a:p>
        </p:txBody>
      </p:sp>
      <p:sp>
        <p:nvSpPr>
          <p:cNvPr id="32" name="s4-engineering-c">
            <a:extLst>
              <a:ext uri="{FF2B5EF4-FFF2-40B4-BE49-F238E27FC236}">
                <a16:creationId xmlns:a16="http://schemas.microsoft.com/office/drawing/2014/main" id="{ADB00E01-F8AE-4861-A283-84BFBDE1D21F}"/>
              </a:ext>
            </a:extLst>
          </p:cNvPr>
          <p:cNvSpPr>
            <a:spLocks noGrp="1"/>
          </p:cNvSpPr>
          <p:nvPr/>
        </p:nvSpPr>
        <p:spPr>
          <a:xfrm>
            <a:off x="9124950" y="5429250"/>
            <a:ext cx="20955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>
                <a:solidFill>
                  <a:srgbClr val="5D626A"/>
                </a:solidFill>
                <a:latin typeface="Consolas"/>
                <a:ea typeface="Consolas"/>
                <a:cs typeface="Consolas"/>
              </a:rPr>
              <a:t>避免 fake success</a:t>
            </a:r>
          </a:p>
        </p:txBody>
      </p:sp>
      <p:sp>
        <p:nvSpPr>
          <p:cNvPr id="33" name="s4-boundary">
            <a:extLst>
              <a:ext uri="{FF2B5EF4-FFF2-40B4-BE49-F238E27FC236}">
                <a16:creationId xmlns:a16="http://schemas.microsoft.com/office/drawing/2014/main" id="{5FF4C84F-7EA5-4B9E-A4B7-CD0CFC1342A2}"/>
              </a:ext>
            </a:extLst>
          </p:cNvPr>
          <p:cNvSpPr>
            <a:spLocks noGrp="1"/>
          </p:cNvSpPr>
          <p:nvPr/>
        </p:nvSpPr>
        <p:spPr>
          <a:xfrm>
            <a:off x="4171950" y="5810250"/>
            <a:ext cx="714375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已合并范围止于 mount、root interface files 与 hierarchy。</a:t>
            </a:r>
          </a:p>
        </p:txBody>
      </p:sp>
    </p:spTree>
    <p:extLst>
      <p:ext uri="{BB962C8B-B14F-4D97-AF65-F5344CB8AC3E}">
        <p14:creationId xmlns:p14="http://schemas.microsoft.com/office/powerpoint/2010/main" val="177997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5-accent-rule">
            <a:extLst>
              <a:ext uri="{FF2B5EF4-FFF2-40B4-BE49-F238E27FC236}">
                <a16:creationId xmlns:a16="http://schemas.microsoft.com/office/drawing/2014/main" id="{D589B986-A8B7-460B-9E81-A375018CA8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5-section">
            <a:extLst>
              <a:ext uri="{FF2B5EF4-FFF2-40B4-BE49-F238E27FC236}">
                <a16:creationId xmlns:a16="http://schemas.microsoft.com/office/drawing/2014/main" id="{9F9A4282-6608-47F2-9BFA-256687EED43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5715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05  ·  总结</a:t>
            </a:r>
          </a:p>
        </p:txBody>
      </p:sp>
      <p:sp>
        <p:nvSpPr>
          <p:cNvPr id="3" name="s5-title">
            <a:extLst>
              <a:ext uri="{FF2B5EF4-FFF2-40B4-BE49-F238E27FC236}">
                <a16:creationId xmlns:a16="http://schemas.microsoft.com/office/drawing/2014/main" id="{EC082FCA-BAAF-4A0A-A1FE-5119DF53E8CF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3919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成果与总结</a:t>
            </a:r>
          </a:p>
        </p:txBody>
      </p:sp>
      <p:sp>
        <p:nvSpPr>
          <p:cNvPr id="4" name="s5-footer">
            <a:extLst>
              <a:ext uri="{FF2B5EF4-FFF2-40B4-BE49-F238E27FC236}">
                <a16:creationId xmlns:a16="http://schemas.microsoft.com/office/drawing/2014/main" id="{1355F5BB-9832-4547-BDF8-1B960142937B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s5-subtitle">
            <a:extLst>
              <a:ext uri="{FF2B5EF4-FFF2-40B4-BE49-F238E27FC236}">
                <a16:creationId xmlns:a16="http://schemas.microsoft.com/office/drawing/2014/main" id="{15B570C5-4A79-47D1-AB82-0EDEB9DDF153}"/>
              </a:ext>
            </a:extLst>
          </p:cNvPr>
          <p:cNvSpPr>
            <a:spLocks noGrp="1"/>
          </p:cNvSpPr>
          <p:nvPr/>
        </p:nvSpPr>
        <p:spPr>
          <a:xfrm>
            <a:off x="6553200" y="723900"/>
            <a:ext cx="52387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35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围绕 StarryOS Linux 兼容性，完成可复核的小范围增量改进。</a:t>
            </a:r>
          </a:p>
        </p:txBody>
      </p:sp>
      <p:sp>
        <p:nvSpPr>
          <p:cNvPr id="6" name="s5-metric-1">
            <a:extLst>
              <a:ext uri="{FF2B5EF4-FFF2-40B4-BE49-F238E27FC236}">
                <a16:creationId xmlns:a16="http://schemas.microsoft.com/office/drawing/2014/main" id="{5ABBCC0B-DA69-4986-8168-6FDFB5376CA8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90800" cy="2362200"/>
          </a:xfrm>
          <a:prstGeom prst="rect">
            <a:avLst/>
          </a:prstGeom>
          <a:solidFill>
            <a:srgbClr val="FFF1EA"/>
          </a:solidFill>
        </p:spPr>
      </p:sp>
      <p:sp>
        <p:nvSpPr>
          <p:cNvPr id="7" name="s5-metric-value-1">
            <a:extLst>
              <a:ext uri="{FF2B5EF4-FFF2-40B4-BE49-F238E27FC236}">
                <a16:creationId xmlns:a16="http://schemas.microsoft.com/office/drawing/2014/main" id="{0EE09E40-0795-4E3B-AEDD-60FE9CF4C8ED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209550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495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8" name="s5-metric-label-1">
            <a:extLst>
              <a:ext uri="{FF2B5EF4-FFF2-40B4-BE49-F238E27FC236}">
                <a16:creationId xmlns:a16="http://schemas.microsoft.com/office/drawing/2014/main" id="{0EACBCEE-BCD7-4544-8C1D-E9DAD347B547}"/>
              </a:ext>
            </a:extLst>
          </p:cNvPr>
          <p:cNvSpPr>
            <a:spLocks noGrp="1"/>
          </p:cNvSpPr>
          <p:nvPr/>
        </p:nvSpPr>
        <p:spPr>
          <a:xfrm>
            <a:off x="647700" y="3143250"/>
            <a:ext cx="2095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tgoskits 已合并 PR</a:t>
            </a:r>
          </a:p>
        </p:txBody>
      </p:sp>
      <p:sp>
        <p:nvSpPr>
          <p:cNvPr id="9" name="s5-metric-2">
            <a:extLst>
              <a:ext uri="{FF2B5EF4-FFF2-40B4-BE49-F238E27FC236}">
                <a16:creationId xmlns:a16="http://schemas.microsoft.com/office/drawing/2014/main" id="{7CD0D752-FD82-480D-88E7-D47593156323}"/>
              </a:ext>
            </a:extLst>
          </p:cNvPr>
          <p:cNvSpPr>
            <a:spLocks noGrp="1"/>
          </p:cNvSpPr>
          <p:nvPr/>
        </p:nvSpPr>
        <p:spPr>
          <a:xfrm>
            <a:off x="3333750" y="1619250"/>
            <a:ext cx="2590800" cy="236220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10" name="s5-metric-value-2">
            <a:extLst>
              <a:ext uri="{FF2B5EF4-FFF2-40B4-BE49-F238E27FC236}">
                <a16:creationId xmlns:a16="http://schemas.microsoft.com/office/drawing/2014/main" id="{984473F7-DAC9-4838-A0F8-5726973AF481}"/>
              </a:ext>
            </a:extLst>
          </p:cNvPr>
          <p:cNvSpPr>
            <a:spLocks noGrp="1"/>
          </p:cNvSpPr>
          <p:nvPr/>
        </p:nvSpPr>
        <p:spPr>
          <a:xfrm>
            <a:off x="3581400" y="1924050"/>
            <a:ext cx="209550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49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11" name="s5-metric-label-2">
            <a:extLst>
              <a:ext uri="{FF2B5EF4-FFF2-40B4-BE49-F238E27FC236}">
                <a16:creationId xmlns:a16="http://schemas.microsoft.com/office/drawing/2014/main" id="{273B905E-9DA7-4ABF-91F0-27B4011B7223}"/>
              </a:ext>
            </a:extLst>
          </p:cNvPr>
          <p:cNvSpPr>
            <a:spLocks noGrp="1"/>
          </p:cNvSpPr>
          <p:nvPr/>
        </p:nvSpPr>
        <p:spPr>
          <a:xfrm>
            <a:off x="3581400" y="3143250"/>
            <a:ext cx="2095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2" name="s5-metric-3">
            <a:extLst>
              <a:ext uri="{FF2B5EF4-FFF2-40B4-BE49-F238E27FC236}">
                <a16:creationId xmlns:a16="http://schemas.microsoft.com/office/drawing/2014/main" id="{4AB1587F-5905-4D52-AE72-B2BD6E06E9CE}"/>
              </a:ext>
            </a:extLst>
          </p:cNvPr>
          <p:cNvSpPr>
            <a:spLocks noGrp="1"/>
          </p:cNvSpPr>
          <p:nvPr/>
        </p:nvSpPr>
        <p:spPr>
          <a:xfrm>
            <a:off x="6267450" y="1619250"/>
            <a:ext cx="2590800" cy="236220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13" name="s5-metric-value-3">
            <a:extLst>
              <a:ext uri="{FF2B5EF4-FFF2-40B4-BE49-F238E27FC236}">
                <a16:creationId xmlns:a16="http://schemas.microsoft.com/office/drawing/2014/main" id="{EB2DC89F-BF48-47DF-BFDC-8100EEB8189F}"/>
              </a:ext>
            </a:extLst>
          </p:cNvPr>
          <p:cNvSpPr>
            <a:spLocks noGrp="1"/>
          </p:cNvSpPr>
          <p:nvPr/>
        </p:nvSpPr>
        <p:spPr>
          <a:xfrm>
            <a:off x="6515100" y="1924050"/>
            <a:ext cx="209550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49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4" name="s5-metric-label-3">
            <a:extLst>
              <a:ext uri="{FF2B5EF4-FFF2-40B4-BE49-F238E27FC236}">
                <a16:creationId xmlns:a16="http://schemas.microsoft.com/office/drawing/2014/main" id="{5CC7862A-FF00-43F5-8D25-D1F9B10CE878}"/>
              </a:ext>
            </a:extLst>
          </p:cNvPr>
          <p:cNvSpPr>
            <a:spLocks noGrp="1"/>
          </p:cNvSpPr>
          <p:nvPr/>
        </p:nvSpPr>
        <p:spPr>
          <a:xfrm>
            <a:off x="6515100" y="3143250"/>
            <a:ext cx="2095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变更文件</a:t>
            </a:r>
          </a:p>
        </p:txBody>
      </p:sp>
      <p:sp>
        <p:nvSpPr>
          <p:cNvPr id="15" name="s5-metric-4">
            <a:extLst>
              <a:ext uri="{FF2B5EF4-FFF2-40B4-BE49-F238E27FC236}">
                <a16:creationId xmlns:a16="http://schemas.microsoft.com/office/drawing/2014/main" id="{30BCAC25-5F68-4A98-B229-2D16A9B6D07E}"/>
              </a:ext>
            </a:extLst>
          </p:cNvPr>
          <p:cNvSpPr>
            <a:spLocks noGrp="1"/>
          </p:cNvSpPr>
          <p:nvPr/>
        </p:nvSpPr>
        <p:spPr>
          <a:xfrm>
            <a:off x="9201150" y="1619250"/>
            <a:ext cx="2590800" cy="2362200"/>
          </a:xfrm>
          <a:prstGeom prst="rect">
            <a:avLst/>
          </a:prstGeom>
          <a:solidFill>
            <a:srgbClr val="ECEDEF"/>
          </a:solidFill>
        </p:spPr>
      </p:sp>
      <p:sp>
        <p:nvSpPr>
          <p:cNvPr id="16" name="s5-metric-value-4">
            <a:extLst>
              <a:ext uri="{FF2B5EF4-FFF2-40B4-BE49-F238E27FC236}">
                <a16:creationId xmlns:a16="http://schemas.microsoft.com/office/drawing/2014/main" id="{08177BED-A7C1-4D0F-99A4-AA3DD1257988}"/>
              </a:ext>
            </a:extLst>
          </p:cNvPr>
          <p:cNvSpPr>
            <a:spLocks noGrp="1"/>
          </p:cNvSpPr>
          <p:nvPr/>
        </p:nvSpPr>
        <p:spPr>
          <a:xfrm>
            <a:off x="9448800" y="1924050"/>
            <a:ext cx="2095500" cy="8763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49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s5-metric-label-4">
            <a:extLst>
              <a:ext uri="{FF2B5EF4-FFF2-40B4-BE49-F238E27FC236}">
                <a16:creationId xmlns:a16="http://schemas.microsoft.com/office/drawing/2014/main" id="{4663BC0C-5D05-4D36-91AB-10CC65F72C4C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2095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目标架构验证</a:t>
            </a:r>
          </a:p>
        </p:txBody>
      </p:sp>
      <p:sp>
        <p:nvSpPr>
          <p:cNvPr id="18" name="s5-metric-note">
            <a:extLst>
              <a:ext uri="{FF2B5EF4-FFF2-40B4-BE49-F238E27FC236}">
                <a16:creationId xmlns:a16="http://schemas.microsoft.com/office/drawing/2014/main" id="{BDE3D42A-7783-4EDF-A69C-6D133572BB19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9525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另有 2 个 axcpu 相关合入记录；统计包含测试、QEMU 配置与支撑代码。</a:t>
            </a:r>
          </a:p>
        </p:txBody>
      </p:sp>
      <p:sp>
        <p:nvSpPr>
          <p:cNvPr id="19" name="s5-summary-band">
            <a:extLst>
              <a:ext uri="{FF2B5EF4-FFF2-40B4-BE49-F238E27FC236}">
                <a16:creationId xmlns:a16="http://schemas.microsoft.com/office/drawing/2014/main" id="{C6F314E2-A0AC-434B-A207-E78ED4C293B8}"/>
              </a:ext>
            </a:extLst>
          </p:cNvPr>
          <p:cNvSpPr>
            <a:spLocks noGrp="1"/>
          </p:cNvSpPr>
          <p:nvPr/>
        </p:nvSpPr>
        <p:spPr>
          <a:xfrm>
            <a:off x="0" y="4686300"/>
            <a:ext cx="12192000" cy="2171700"/>
          </a:xfrm>
          <a:prstGeom prst="rect">
            <a:avLst/>
          </a:prstGeom>
          <a:solidFill>
            <a:srgbClr val="202124"/>
          </a:solidFill>
        </p:spPr>
      </p:sp>
      <p:sp>
        <p:nvSpPr>
          <p:cNvPr id="20" name="s5-summary-title-1">
            <a:extLst>
              <a:ext uri="{FF2B5EF4-FFF2-40B4-BE49-F238E27FC236}">
                <a16:creationId xmlns:a16="http://schemas.microsoft.com/office/drawing/2014/main" id="{25ADBB79-B5D1-4A33-90FB-0C36197EA0A2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1143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主线</a:t>
            </a:r>
          </a:p>
        </p:txBody>
      </p:sp>
      <p:sp>
        <p:nvSpPr>
          <p:cNvPr id="21" name="s5-summary-body-1">
            <a:extLst>
              <a:ext uri="{FF2B5EF4-FFF2-40B4-BE49-F238E27FC236}">
                <a16:creationId xmlns:a16="http://schemas.microsoft.com/office/drawing/2014/main" id="{AA94166D-2EC9-45E0-BFAF-C5E6A1408F10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3429000" cy="742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 ABI → 真实应用 → cgroup2 基础能力</a:t>
            </a:r>
          </a:p>
        </p:txBody>
      </p:sp>
      <p:sp>
        <p:nvSpPr>
          <p:cNvPr id="22" name="s5-summary-title-2">
            <a:extLst>
              <a:ext uri="{FF2B5EF4-FFF2-40B4-BE49-F238E27FC236}">
                <a16:creationId xmlns:a16="http://schemas.microsoft.com/office/drawing/2014/main" id="{DA5D07B3-303F-43FC-B1BC-00608ADC9371}"/>
              </a:ext>
            </a:extLst>
          </p:cNvPr>
          <p:cNvSpPr>
            <a:spLocks noGrp="1"/>
          </p:cNvSpPr>
          <p:nvPr/>
        </p:nvSpPr>
        <p:spPr>
          <a:xfrm>
            <a:off x="4314825" y="5048250"/>
            <a:ext cx="1143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3" name="s5-summary-body-2">
            <a:extLst>
              <a:ext uri="{FF2B5EF4-FFF2-40B4-BE49-F238E27FC236}">
                <a16:creationId xmlns:a16="http://schemas.microsoft.com/office/drawing/2014/main" id="{F0672C25-C163-4036-8D40-399A82441322}"/>
              </a:ext>
            </a:extLst>
          </p:cNvPr>
          <p:cNvSpPr>
            <a:spLocks noGrp="1"/>
          </p:cNvSpPr>
          <p:nvPr/>
        </p:nvSpPr>
        <p:spPr>
          <a:xfrm>
            <a:off x="4314825" y="5476875"/>
            <a:ext cx="3429000" cy="742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用户态行为驱动、focused 测例、小步 PR、多架构验证</a:t>
            </a:r>
          </a:p>
        </p:txBody>
      </p:sp>
      <p:sp>
        <p:nvSpPr>
          <p:cNvPr id="24" name="s5-summary-title-3">
            <a:extLst>
              <a:ext uri="{FF2B5EF4-FFF2-40B4-BE49-F238E27FC236}">
                <a16:creationId xmlns:a16="http://schemas.microsoft.com/office/drawing/2014/main" id="{69D6D23D-A391-4FEC-895B-356B7D029837}"/>
              </a:ext>
            </a:extLst>
          </p:cNvPr>
          <p:cNvSpPr>
            <a:spLocks noGrp="1"/>
          </p:cNvSpPr>
          <p:nvPr/>
        </p:nvSpPr>
        <p:spPr>
          <a:xfrm>
            <a:off x="8229600" y="5048250"/>
            <a:ext cx="11430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5" name="s5-summary-body-3">
            <a:extLst>
              <a:ext uri="{FF2B5EF4-FFF2-40B4-BE49-F238E27FC236}">
                <a16:creationId xmlns:a16="http://schemas.microsoft.com/office/drawing/2014/main" id="{CE57EB5D-9A93-444E-A0D5-D457C2F5D16C}"/>
              </a:ext>
            </a:extLst>
          </p:cNvPr>
          <p:cNvSpPr>
            <a:spLocks noGrp="1"/>
          </p:cNvSpPr>
          <p:nvPr/>
        </p:nvSpPr>
        <p:spPr>
          <a:xfrm>
            <a:off x="8229600" y="5476875"/>
            <a:ext cx="3429000" cy="742950"/>
          </a:xfrm>
          <a:prstGeom prst="rect">
            <a:avLst/>
          </a:prstGeom>
        </p:spPr>
        <p:txBody>
          <a:bodyPr lIns="0" tIns="0" rIns="0" bIns="0" anchor="t">
            <a:normAutofit fontScale="98142"/>
          </a:bodyPr>
          <a:lstStyle/>
          <a:p>
            <a:pPr algn="l">
              <a:lnSpc>
                <a:spcPct val="112000"/>
              </a:lnSpc>
              <a:buNone/>
            </a:pP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未完整支持</a:t>
            </a:r>
            <a:r>
              <a:rPr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futex、nginx、cgroup</a:t>
            </a:r>
            <a:r>
              <a:rPr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controller 或 Docker</a:t>
            </a:r>
          </a:p>
        </p:txBody>
      </p:sp>
    </p:spTree>
    <p:extLst>
      <p:ext uri="{BB962C8B-B14F-4D97-AF65-F5344CB8AC3E}">
        <p14:creationId xmlns:p14="http://schemas.microsoft.com/office/powerpoint/2010/main" val="116686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6-accent-rule">
            <a:extLst>
              <a:ext uri="{FF2B5EF4-FFF2-40B4-BE49-F238E27FC236}">
                <a16:creationId xmlns:a16="http://schemas.microsoft.com/office/drawing/2014/main" id="{E288BC16-6C64-4253-AF3A-5B7058C1B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2" name="s6-section">
            <a:extLst>
              <a:ext uri="{FF2B5EF4-FFF2-40B4-BE49-F238E27FC236}">
                <a16:creationId xmlns:a16="http://schemas.microsoft.com/office/drawing/2014/main" id="{4EF4516F-AEEF-41BB-B480-93F3D59495E0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5715000" cy="238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25" b="1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06  ·  复盘</a:t>
            </a:r>
          </a:p>
        </p:txBody>
      </p:sp>
      <p:sp>
        <p:nvSpPr>
          <p:cNvPr id="3" name="s6-title">
            <a:extLst>
              <a:ext uri="{FF2B5EF4-FFF2-40B4-BE49-F238E27FC236}">
                <a16:creationId xmlns:a16="http://schemas.microsoft.com/office/drawing/2014/main" id="{2823DB4C-6F1D-4310-937B-E65178286B9A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1391900" cy="609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过程中的思考</a:t>
            </a:r>
          </a:p>
        </p:txBody>
      </p:sp>
      <p:sp>
        <p:nvSpPr>
          <p:cNvPr id="4" name="s6-footer">
            <a:extLst>
              <a:ext uri="{FF2B5EF4-FFF2-40B4-BE49-F238E27FC236}">
                <a16:creationId xmlns:a16="http://schemas.microsoft.com/office/drawing/2014/main" id="{B265CF14-E90C-441E-BD89-7F207671EA4D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76250" cy="190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975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s6-left-panel">
            <a:extLst>
              <a:ext uri="{FF2B5EF4-FFF2-40B4-BE49-F238E27FC236}">
                <a16:creationId xmlns:a16="http://schemas.microsoft.com/office/drawing/2014/main" id="{D66FE68D-0996-461C-A6F8-88973477AD13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3486150" cy="3905250"/>
          </a:xfrm>
          <a:prstGeom prst="rect">
            <a:avLst/>
          </a:prstGeom>
          <a:solidFill>
            <a:srgbClr val="202124"/>
          </a:solidFill>
        </p:spPr>
      </p:sp>
      <p:sp>
        <p:nvSpPr>
          <p:cNvPr id="6" name="s6-left-label">
            <a:extLst>
              <a:ext uri="{FF2B5EF4-FFF2-40B4-BE49-F238E27FC236}">
                <a16:creationId xmlns:a16="http://schemas.microsoft.com/office/drawing/2014/main" id="{82A84B17-6CA1-46EC-AA8B-B056634DFE3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42875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75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7" name="s6-left-title">
            <a:extLst>
              <a:ext uri="{FF2B5EF4-FFF2-40B4-BE49-F238E27FC236}">
                <a16:creationId xmlns:a16="http://schemas.microsoft.com/office/drawing/2014/main" id="{54D8484D-396E-40A2-AF6E-29303E9C5671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2895600" cy="1066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能加速理解，
但不能替代判断</a:t>
            </a:r>
          </a:p>
        </p:txBody>
      </p:sp>
      <p:sp>
        <p:nvSpPr>
          <p:cNvPr id="8" name="s6-left-rule">
            <a:extLst>
              <a:ext uri="{FF2B5EF4-FFF2-40B4-BE49-F238E27FC236}">
                <a16:creationId xmlns:a16="http://schemas.microsoft.com/office/drawing/2014/main" id="{50DF10EA-32EF-4405-B76B-6221B5A7A4A4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666750" cy="47625"/>
          </a:xfrm>
          <a:prstGeom prst="rect">
            <a:avLst/>
          </a:prstGeom>
          <a:solidFill>
            <a:srgbClr val="F15A24"/>
          </a:solidFill>
        </p:spPr>
      </p:sp>
      <p:sp>
        <p:nvSpPr>
          <p:cNvPr id="9" name="s6-left-body">
            <a:extLst>
              <a:ext uri="{FF2B5EF4-FFF2-40B4-BE49-F238E27FC236}">
                <a16:creationId xmlns:a16="http://schemas.microsoft.com/office/drawing/2014/main" id="{541A6A3B-2BDA-4D78-AE36-7D8F28E211BE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800350" cy="952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4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真正可靠的产出，仍然需要代码阅读、测试证据、review 和明确的工作边界。</a:t>
            </a:r>
          </a:p>
        </p:txBody>
      </p:sp>
      <p:sp>
        <p:nvSpPr>
          <p:cNvPr id="10" name="s6-left-tags">
            <a:extLst>
              <a:ext uri="{FF2B5EF4-FFF2-40B4-BE49-F238E27FC236}">
                <a16:creationId xmlns:a16="http://schemas.microsoft.com/office/drawing/2014/main" id="{132FB1F5-DF19-415D-B9C7-737281ACA425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28003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SPEC-DRIVEN  ·  TDD  ·  REVIEW</a:t>
            </a:r>
          </a:p>
        </p:txBody>
      </p:sp>
      <p:sp>
        <p:nvSpPr>
          <p:cNvPr id="11" name="s6-row-no-1">
            <a:extLst>
              <a:ext uri="{FF2B5EF4-FFF2-40B4-BE49-F238E27FC236}">
                <a16:creationId xmlns:a16="http://schemas.microsoft.com/office/drawing/2014/main" id="{F894E2A4-5368-46DE-80C9-C1384346FFF7}"/>
              </a:ext>
            </a:extLst>
          </p:cNvPr>
          <p:cNvSpPr>
            <a:spLocks noGrp="1"/>
          </p:cNvSpPr>
          <p:nvPr/>
        </p:nvSpPr>
        <p:spPr>
          <a:xfrm>
            <a:off x="4362450" y="1590675"/>
            <a:ext cx="6096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" name="s6-row-title-1">
            <a:extLst>
              <a:ext uri="{FF2B5EF4-FFF2-40B4-BE49-F238E27FC236}">
                <a16:creationId xmlns:a16="http://schemas.microsoft.com/office/drawing/2014/main" id="{8E69E179-ADA1-44C4-861E-65A174CF1630}"/>
              </a:ext>
            </a:extLst>
          </p:cNvPr>
          <p:cNvSpPr>
            <a:spLocks noGrp="1"/>
          </p:cNvSpPr>
          <p:nvPr/>
        </p:nvSpPr>
        <p:spPr>
          <a:xfrm>
            <a:off x="5219700" y="1571625"/>
            <a:ext cx="2571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Agent 协作</a:t>
            </a:r>
          </a:p>
        </p:txBody>
      </p:sp>
      <p:sp>
        <p:nvSpPr>
          <p:cNvPr id="13" name="s6-row-body-1">
            <a:extLst>
              <a:ext uri="{FF2B5EF4-FFF2-40B4-BE49-F238E27FC236}">
                <a16:creationId xmlns:a16="http://schemas.microsoft.com/office/drawing/2014/main" id="{35820EAB-3F67-4F8F-B291-A939D52320C1}"/>
              </a:ext>
            </a:extLst>
          </p:cNvPr>
          <p:cNvSpPr>
            <a:spLocks noGrp="1"/>
          </p:cNvSpPr>
          <p:nvPr/>
        </p:nvSpPr>
        <p:spPr>
          <a:xfrm>
            <a:off x="5219700" y="2000250"/>
            <a:ext cx="6572250" cy="628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适合代码导航、局部理解、方案枚举与测试草拟；需要先明确 scope，再用实际代码和测试复核输出。</a:t>
            </a:r>
          </a:p>
        </p:txBody>
      </p:sp>
      <p:sp>
        <p:nvSpPr>
          <p:cNvPr id="14" name="s6-row-rule-1">
            <a:extLst>
              <a:ext uri="{FF2B5EF4-FFF2-40B4-BE49-F238E27FC236}">
                <a16:creationId xmlns:a16="http://schemas.microsoft.com/office/drawing/2014/main" id="{07DC3830-8A54-4EB3-86F3-46E67E23D65C}"/>
              </a:ext>
            </a:extLst>
          </p:cNvPr>
          <p:cNvSpPr>
            <a:spLocks noGrp="1"/>
          </p:cNvSpPr>
          <p:nvPr/>
        </p:nvSpPr>
        <p:spPr>
          <a:xfrm>
            <a:off x="4362450" y="2705100"/>
            <a:ext cx="7429500" cy="1905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15" name="s6-row-no-2">
            <a:extLst>
              <a:ext uri="{FF2B5EF4-FFF2-40B4-BE49-F238E27FC236}">
                <a16:creationId xmlns:a16="http://schemas.microsoft.com/office/drawing/2014/main" id="{C6FA1CE4-565C-499F-ACBF-FA9918B4FBC3}"/>
              </a:ext>
            </a:extLst>
          </p:cNvPr>
          <p:cNvSpPr>
            <a:spLocks noGrp="1"/>
          </p:cNvSpPr>
          <p:nvPr/>
        </p:nvSpPr>
        <p:spPr>
          <a:xfrm>
            <a:off x="4362450" y="2895600"/>
            <a:ext cx="6096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s6-row-title-2">
            <a:extLst>
              <a:ext uri="{FF2B5EF4-FFF2-40B4-BE49-F238E27FC236}">
                <a16:creationId xmlns:a16="http://schemas.microsoft.com/office/drawing/2014/main" id="{9F0CFF3E-21A1-494B-AA01-948E18688EF1}"/>
              </a:ext>
            </a:extLst>
          </p:cNvPr>
          <p:cNvSpPr>
            <a:spLocks noGrp="1"/>
          </p:cNvSpPr>
          <p:nvPr/>
        </p:nvSpPr>
        <p:spPr>
          <a:xfrm>
            <a:off x="5219700" y="2876550"/>
            <a:ext cx="2571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内核工程判断</a:t>
            </a:r>
          </a:p>
        </p:txBody>
      </p:sp>
      <p:sp>
        <p:nvSpPr>
          <p:cNvPr id="17" name="s6-row-body-2">
            <a:extLst>
              <a:ext uri="{FF2B5EF4-FFF2-40B4-BE49-F238E27FC236}">
                <a16:creationId xmlns:a16="http://schemas.microsoft.com/office/drawing/2014/main" id="{924AD7A0-E0AC-4BB6-85E9-A5CB02C26D14}"/>
              </a:ext>
            </a:extLst>
          </p:cNvPr>
          <p:cNvSpPr>
            <a:spLocks noGrp="1"/>
          </p:cNvSpPr>
          <p:nvPr/>
        </p:nvSpPr>
        <p:spPr>
          <a:xfrm>
            <a:off x="5219700" y="3305175"/>
            <a:ext cx="6572250" cy="628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锁顺序、生命周期、错误码和状态一致性不能外包。多轮 review 暴露的问题说明最终责任仍在开发者。</a:t>
            </a:r>
          </a:p>
        </p:txBody>
      </p:sp>
      <p:sp>
        <p:nvSpPr>
          <p:cNvPr id="18" name="s6-row-rule-2">
            <a:extLst>
              <a:ext uri="{FF2B5EF4-FFF2-40B4-BE49-F238E27FC236}">
                <a16:creationId xmlns:a16="http://schemas.microsoft.com/office/drawing/2014/main" id="{0917DB1B-600E-4BCC-A4FF-5D147E17601B}"/>
              </a:ext>
            </a:extLst>
          </p:cNvPr>
          <p:cNvSpPr>
            <a:spLocks noGrp="1"/>
          </p:cNvSpPr>
          <p:nvPr/>
        </p:nvSpPr>
        <p:spPr>
          <a:xfrm>
            <a:off x="4362450" y="4010025"/>
            <a:ext cx="7429500" cy="19050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19" name="s6-row-no-3">
            <a:extLst>
              <a:ext uri="{FF2B5EF4-FFF2-40B4-BE49-F238E27FC236}">
                <a16:creationId xmlns:a16="http://schemas.microsoft.com/office/drawing/2014/main" id="{11BBA8EC-2DFC-4534-87F9-E096A1B52D68}"/>
              </a:ext>
            </a:extLst>
          </p:cNvPr>
          <p:cNvSpPr>
            <a:spLocks noGrp="1"/>
          </p:cNvSpPr>
          <p:nvPr/>
        </p:nvSpPr>
        <p:spPr>
          <a:xfrm>
            <a:off x="4362450" y="4200525"/>
            <a:ext cx="6096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 b="1">
                <a:solidFill>
                  <a:srgbClr val="F15A2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s6-row-title-3">
            <a:extLst>
              <a:ext uri="{FF2B5EF4-FFF2-40B4-BE49-F238E27FC236}">
                <a16:creationId xmlns:a16="http://schemas.microsoft.com/office/drawing/2014/main" id="{2DC698C5-04E5-4C36-9D18-DB4FB3ED04C3}"/>
              </a:ext>
            </a:extLst>
          </p:cNvPr>
          <p:cNvSpPr>
            <a:spLocks noGrp="1"/>
          </p:cNvSpPr>
          <p:nvPr/>
        </p:nvSpPr>
        <p:spPr>
          <a:xfrm>
            <a:off x="5219700" y="4181475"/>
            <a:ext cx="25717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社区协作节奏</a:t>
            </a:r>
          </a:p>
        </p:txBody>
      </p:sp>
      <p:sp>
        <p:nvSpPr>
          <p:cNvPr id="21" name="s6-row-body-3">
            <a:extLst>
              <a:ext uri="{FF2B5EF4-FFF2-40B4-BE49-F238E27FC236}">
                <a16:creationId xmlns:a16="http://schemas.microsoft.com/office/drawing/2014/main" id="{0470D07D-F733-4F64-AD10-CAB7EFCCB81D}"/>
              </a:ext>
            </a:extLst>
          </p:cNvPr>
          <p:cNvSpPr>
            <a:spLocks noGrp="1"/>
          </p:cNvSpPr>
          <p:nvPr/>
        </p:nvSpPr>
        <p:spPr>
          <a:xfrm>
            <a:off x="5219700" y="4610100"/>
            <a:ext cx="6572250" cy="628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350">
                <a:solidFill>
                  <a:srgbClr val="5D626A"/>
                </a:solidFill>
                <a:latin typeface="Microsoft YaHei"/>
                <a:ea typeface="Microsoft YaHei"/>
                <a:cs typeface="Microsoft YaHei"/>
              </a:rPr>
              <a:t>小 PR 降低 review 与定位成本；并行开发仍要求更早同步上游、确认任务边界与合并顺序。</a:t>
            </a:r>
          </a:p>
        </p:txBody>
      </p:sp>
      <p:sp>
        <p:nvSpPr>
          <p:cNvPr id="22" name="s6-transition-band">
            <a:extLst>
              <a:ext uri="{FF2B5EF4-FFF2-40B4-BE49-F238E27FC236}">
                <a16:creationId xmlns:a16="http://schemas.microsoft.com/office/drawing/2014/main" id="{D2527AD4-3627-4D06-A047-FEA41EF2F414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19100"/>
          </a:xfrm>
          <a:prstGeom prst="rect">
            <a:avLst/>
          </a:prstGeom>
          <a:solidFill>
            <a:srgbClr val="FFF1EA"/>
          </a:solidFill>
        </p:spPr>
      </p:sp>
      <p:sp>
        <p:nvSpPr>
          <p:cNvPr id="23" name="s6-transition-label">
            <a:extLst>
              <a:ext uri="{FF2B5EF4-FFF2-40B4-BE49-F238E27FC236}">
                <a16:creationId xmlns:a16="http://schemas.microsoft.com/office/drawing/2014/main" id="{8E018D21-D36D-4B5F-B53F-BC5D4B1003D9}"/>
              </a:ext>
            </a:extLst>
          </p:cNvPr>
          <p:cNvSpPr>
            <a:spLocks noGrp="1"/>
          </p:cNvSpPr>
          <p:nvPr/>
        </p:nvSpPr>
        <p:spPr>
          <a:xfrm>
            <a:off x="666750" y="5943600"/>
            <a:ext cx="10477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1">
                <a:solidFill>
                  <a:srgbClr val="F15A24"/>
                </a:solidFill>
                <a:latin typeface="Microsoft YaHei"/>
                <a:ea typeface="Microsoft YaHei"/>
                <a:cs typeface="Microsoft YaHei"/>
              </a:rPr>
              <a:t>认知变化</a:t>
            </a:r>
          </a:p>
        </p:txBody>
      </p:sp>
      <p:sp>
        <p:nvSpPr>
          <p:cNvPr id="24" name="s6-transition-text">
            <a:extLst>
              <a:ext uri="{FF2B5EF4-FFF2-40B4-BE49-F238E27FC236}">
                <a16:creationId xmlns:a16="http://schemas.microsoft.com/office/drawing/2014/main" id="{F407A61A-9CCE-4883-8EE6-FF0E075DC574}"/>
              </a:ext>
            </a:extLst>
          </p:cNvPr>
          <p:cNvSpPr>
            <a:spLocks noGrp="1"/>
          </p:cNvSpPr>
          <p:nvPr/>
        </p:nvSpPr>
        <p:spPr>
          <a:xfrm>
            <a:off x="1857375" y="5924550"/>
            <a:ext cx="9525000" cy="238125"/>
          </a:xfrm>
          <a:prstGeom prst="rect">
            <a:avLst/>
          </a:prstGeom>
        </p:spPr>
        <p:txBody>
          <a:bodyPr lIns="0" tIns="0" rIns="0" bIns="0" anchor="t">
            <a:normAutofit fontScale="97901"/>
          </a:bodyPr>
          <a:lstStyle/>
          <a:p>
            <a:pPr algn="l">
              <a:lnSpc>
                <a:spcPct val="112000"/>
              </a:lnSpc>
              <a:buNone/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从“完成实验”转向在真实仓库里围绕问题、测试、边界和协作节奏做增量开发。</a:t>
            </a:r>
          </a:p>
        </p:txBody>
      </p:sp>
    </p:spTree>
    <p:extLst>
      <p:ext uri="{BB962C8B-B14F-4D97-AF65-F5344CB8AC3E}">
        <p14:creationId xmlns:p14="http://schemas.microsoft.com/office/powerpoint/2010/main" val="4800953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464</Words>
  <Application>Microsoft Office PowerPoint</Application>
  <DocSecurity>0</DocSecurity>
  <PresentationFormat>宽屏</PresentationFormat>
  <Paragraphs>122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威力 龙</cp:lastModifiedBy>
  <cp:revision>2</cp:revision>
  <dcterms:created xsi:type="dcterms:W3CDTF">2026-06-27T10:55:31Z</dcterms:created>
  <dcterms:modified xsi:type="dcterms:W3CDTF">2026-06-27T11:11:16Z</dcterms:modified>
</cp:coreProperties>
</file>